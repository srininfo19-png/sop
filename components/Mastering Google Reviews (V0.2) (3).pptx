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0" r:id="rId3"/>
    <p:sldId id="268" r:id="rId4"/>
    <p:sldId id="272" r:id="rId5"/>
    <p:sldId id="277" r:id="rId6"/>
    <p:sldId id="276" r:id="rId7"/>
    <p:sldId id="275" r:id="rId8"/>
    <p:sldId id="265" r:id="rId9"/>
    <p:sldId id="266" r:id="rId10"/>
    <p:sldId id="257" r:id="rId11"/>
    <p:sldId id="258" r:id="rId12"/>
    <p:sldId id="273" r:id="rId13"/>
    <p:sldId id="259" r:id="rId14"/>
    <p:sldId id="260" r:id="rId15"/>
    <p:sldId id="261" r:id="rId16"/>
    <p:sldId id="262" r:id="rId17"/>
    <p:sldId id="267" r:id="rId18"/>
    <p:sldId id="269" r:id="rId19"/>
    <p:sldId id="274" r:id="rId20"/>
    <p:sldId id="26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5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AB782-A8AB-4A41-8E3B-AA25BBF22BA9}" type="datetimeFigureOut">
              <a:rPr lang="en-IN" smtClean="0"/>
              <a:t>30-08-2025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20675-AA14-406B-A349-C159C69A8192}" type="slidenum">
              <a:rPr lang="en-IN" smtClean="0"/>
              <a:t>‹#›</a:t>
            </a:fld>
            <a:endParaRPr lang="en-IN" dirty="0"/>
          </a:p>
        </p:txBody>
      </p:sp>
    </p:spTree>
    <p:extLst>
      <p:ext uri="{BB962C8B-B14F-4D97-AF65-F5344CB8AC3E}">
        <p14:creationId xmlns:p14="http://schemas.microsoft.com/office/powerpoint/2010/main" val="135027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80428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EC945-CC6B-D59B-90D4-C4C4E8F59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75069-F899-955F-5E30-0A5410911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7EA882-D5F7-3CD7-B903-7C525DCF3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CEEB64-69C7-47F3-4EFC-3654B0684C9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01000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59644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020675-AA14-406B-A349-C159C69A8192}" type="slidenum">
              <a:rPr lang="en-IN" smtClean="0"/>
              <a:t>16</a:t>
            </a:fld>
            <a:endParaRPr lang="en-IN" dirty="0"/>
          </a:p>
        </p:txBody>
      </p:sp>
    </p:spTree>
    <p:extLst>
      <p:ext uri="{BB962C8B-B14F-4D97-AF65-F5344CB8AC3E}">
        <p14:creationId xmlns:p14="http://schemas.microsoft.com/office/powerpoint/2010/main" val="2676243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3B63C-AF82-8C49-6E66-EBE2DE1171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F89F90-AA42-C4DB-7A92-BE12C44DA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C9C34E-C2BD-9FBF-F5DA-ADCC36282C14}"/>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A3F85266-A9EC-FC3B-F502-60CC154AC5A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5405065-BA79-B740-B6BE-F5553E0B2D5C}"/>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1714037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AD2BA-5B07-40B8-ACA2-A48126CDFB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1D12E5-F959-23D7-DCAC-673E0E53A5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74C94-3A78-55BC-5390-C82DCA355AD4}"/>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15B83F2D-9B73-3716-A541-28A643B6B51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C531878-1485-5294-A26D-12843DDEF536}"/>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1333291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96F9-2CDD-A307-35E5-F592E6D5A2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003137-4C91-5FF6-A850-3E4F5A7C5D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9F04F-BA3D-32B6-70D1-ECFB30D1FC1F}"/>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EC102B7B-1771-224D-CA6E-E3AEF87FB4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A476287-D51F-936B-3E11-D1D9D0B10992}"/>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486061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F33C-6D5B-2A78-35DB-10E353054E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CD6BD2-8791-F566-027E-02EFFD9704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7CCBC4-62D3-64F9-8F35-AE587F672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5739AC-5049-EDDC-3E6E-AF6308DAFFE5}"/>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6" name="Footer Placeholder 5">
            <a:extLst>
              <a:ext uri="{FF2B5EF4-FFF2-40B4-BE49-F238E27FC236}">
                <a16:creationId xmlns:a16="http://schemas.microsoft.com/office/drawing/2014/main" id="{D667F232-FB72-43EC-71CE-38D57C62F15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530E233-164E-283D-C448-52DD90548413}"/>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92661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CC4F-E1AD-56F7-8ED2-0EEDBAAC7FD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A4A884-1550-8AC0-D664-F8E37F9CC1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517BDE-D15E-E988-ED00-EECF81AC42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93EFA-3105-F5A7-712C-DD6A0905BB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DD861D-44DB-1B25-5DBE-71B61B029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4FD248-2147-1058-AF3E-026071480D90}"/>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8" name="Footer Placeholder 7">
            <a:extLst>
              <a:ext uri="{FF2B5EF4-FFF2-40B4-BE49-F238E27FC236}">
                <a16:creationId xmlns:a16="http://schemas.microsoft.com/office/drawing/2014/main" id="{C5371677-967B-91E5-252F-549192F8842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E7D058F-69A4-3DBB-CACC-6ADA535F2E6C}"/>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399694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2B74B-F2DA-64E9-B365-3FA0D6B655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35AA0A-AF93-0245-22A2-B6D0AE4B3613}"/>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4" name="Footer Placeholder 3">
            <a:extLst>
              <a:ext uri="{FF2B5EF4-FFF2-40B4-BE49-F238E27FC236}">
                <a16:creationId xmlns:a16="http://schemas.microsoft.com/office/drawing/2014/main" id="{49DA1A85-3637-DC89-FE96-1D5559A84C3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3A6E379-66F7-490E-77AA-2D373BC8CB51}"/>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322009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53F935-4B0D-9F22-73DA-C5B0DEC0504F}"/>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3" name="Footer Placeholder 2">
            <a:extLst>
              <a:ext uri="{FF2B5EF4-FFF2-40B4-BE49-F238E27FC236}">
                <a16:creationId xmlns:a16="http://schemas.microsoft.com/office/drawing/2014/main" id="{19B69753-744D-3FCC-7FBE-698C68C61AF8}"/>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F85D2AF-10E8-8862-3974-30D8D472B2E9}"/>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406804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D3504-5771-EF76-4554-06ED5ED47B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9F17A4-9BBE-59D8-EA13-8FF02DC107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C263EB3-B8B8-13C5-0F13-8F35443920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C808F-6D05-D1B0-1333-E5A4BBE183D7}"/>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6" name="Footer Placeholder 5">
            <a:extLst>
              <a:ext uri="{FF2B5EF4-FFF2-40B4-BE49-F238E27FC236}">
                <a16:creationId xmlns:a16="http://schemas.microsoft.com/office/drawing/2014/main" id="{175261B1-1E68-03AF-C6D2-65B015DCF89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2A1F5C3-714D-4067-24FB-46E8A1472AD7}"/>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397288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E874F-230D-9742-1186-0A0358C0D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058EC7-5830-D4D9-0FCB-EEB65798C1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CA783BD-A75D-9025-98C6-FCED2350C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8058A-C3E0-D560-9FF7-C5F772D189FB}"/>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6" name="Footer Placeholder 5">
            <a:extLst>
              <a:ext uri="{FF2B5EF4-FFF2-40B4-BE49-F238E27FC236}">
                <a16:creationId xmlns:a16="http://schemas.microsoft.com/office/drawing/2014/main" id="{786E6085-F5A1-514B-B5D0-64D5C579D7A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D544A62-E40F-99E5-B213-E7EB4E6178DB}"/>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279818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AD84F-470B-7A2B-6683-AC7548F275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4A0DC1-45DF-95D7-4454-EA21B09D9E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0FCED3-D9CB-D7A9-BB11-9ECA9010E452}"/>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7709DA95-2886-C4D5-78DB-4615170E57F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9C3ADD3-BC79-DC52-856D-C17A13EE5E87}"/>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4148290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11A09C-F03B-AE08-A177-35DEF7FA67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35D593-5A37-7A94-37B1-7BD098ACFB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402F1-11C8-8468-089E-7658FEB728B0}"/>
              </a:ext>
            </a:extLst>
          </p:cNvPr>
          <p:cNvSpPr>
            <a:spLocks noGrp="1"/>
          </p:cNvSpPr>
          <p:nvPr>
            <p:ph type="dt" sz="half" idx="10"/>
          </p:nvPr>
        </p:nvSpPr>
        <p:spPr/>
        <p:txBody>
          <a:body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BBA6D91A-674D-7D34-503D-35AB8F99F48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BE9BCAE-4781-3665-784F-FE2A7DACE5E2}"/>
              </a:ext>
            </a:extLst>
          </p:cNvPr>
          <p:cNvSpPr>
            <a:spLocks noGrp="1"/>
          </p:cNvSpPr>
          <p:nvPr>
            <p:ph type="sldNum" sz="quarter" idx="12"/>
          </p:nvPr>
        </p:nvSpPr>
        <p:spPr/>
        <p:txBody>
          <a:bodyPr/>
          <a:lstStyle/>
          <a:p>
            <a:fld id="{0FDD2691-2BB7-47C4-9268-61B96C63AFB1}" type="slidenum">
              <a:rPr lang="en-IN" smtClean="0"/>
              <a:t>‹#›</a:t>
            </a:fld>
            <a:endParaRPr lang="en-IN" dirty="0"/>
          </a:p>
        </p:txBody>
      </p:sp>
    </p:spTree>
    <p:extLst>
      <p:ext uri="{BB962C8B-B14F-4D97-AF65-F5344CB8AC3E}">
        <p14:creationId xmlns:p14="http://schemas.microsoft.com/office/powerpoint/2010/main" val="870791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873637-54A2-4A88-A9B6-DD6FE78EB23B}"/>
              </a:ext>
            </a:extLst>
          </p:cNvPr>
          <p:cNvPicPr>
            <a:picLocks noChangeAspect="1"/>
          </p:cNvPicPr>
          <p:nvPr userDrawn="1"/>
        </p:nvPicPr>
        <p:blipFill>
          <a:blip r:embed="rId2"/>
          <a:stretch>
            <a:fillRect/>
          </a:stretch>
        </p:blipFill>
        <p:spPr>
          <a:xfrm>
            <a:off x="10927666" y="173620"/>
            <a:ext cx="1042486" cy="1008813"/>
          </a:xfrm>
          <a:prstGeom prst="rect">
            <a:avLst/>
          </a:prstGeom>
        </p:spPr>
      </p:pic>
    </p:spTree>
    <p:extLst>
      <p:ext uri="{BB962C8B-B14F-4D97-AF65-F5344CB8AC3E}">
        <p14:creationId xmlns:p14="http://schemas.microsoft.com/office/powerpoint/2010/main" val="143365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94589F-11AC-4EBA-A0F1-E131F953D4C3}"/>
              </a:ext>
            </a:extLst>
          </p:cNvPr>
          <p:cNvPicPr>
            <a:picLocks noChangeAspect="1"/>
          </p:cNvPicPr>
          <p:nvPr userDrawn="1"/>
        </p:nvPicPr>
        <p:blipFill>
          <a:blip r:embed="rId2"/>
          <a:stretch>
            <a:fillRect/>
          </a:stretch>
        </p:blipFill>
        <p:spPr>
          <a:xfrm>
            <a:off x="10927666" y="173620"/>
            <a:ext cx="1042486" cy="1008813"/>
          </a:xfrm>
          <a:prstGeom prst="rect">
            <a:avLst/>
          </a:prstGeom>
        </p:spPr>
      </p:pic>
    </p:spTree>
    <p:extLst>
      <p:ext uri="{BB962C8B-B14F-4D97-AF65-F5344CB8AC3E}">
        <p14:creationId xmlns:p14="http://schemas.microsoft.com/office/powerpoint/2010/main" val="2164335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2E217A-5A7B-457F-BE0F-D1F17E0D9EE1}"/>
              </a:ext>
            </a:extLst>
          </p:cNvPr>
          <p:cNvPicPr>
            <a:picLocks noChangeAspect="1"/>
          </p:cNvPicPr>
          <p:nvPr userDrawn="1"/>
        </p:nvPicPr>
        <p:blipFill>
          <a:blip r:embed="rId2"/>
          <a:stretch>
            <a:fillRect/>
          </a:stretch>
        </p:blipFill>
        <p:spPr>
          <a:xfrm>
            <a:off x="10927666" y="173620"/>
            <a:ext cx="1042486" cy="1008813"/>
          </a:xfrm>
          <a:prstGeom prst="rect">
            <a:avLst/>
          </a:prstGeom>
        </p:spPr>
      </p:pic>
    </p:spTree>
    <p:extLst>
      <p:ext uri="{BB962C8B-B14F-4D97-AF65-F5344CB8AC3E}">
        <p14:creationId xmlns:p14="http://schemas.microsoft.com/office/powerpoint/2010/main" val="2186853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0D43D3-CE9D-EE7B-B9C9-CEF794216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D687E3-0D47-AD1B-3AD0-EC2BA7CBEE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AD2D7D-46FA-7CDC-AD4C-0EB21EEE35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D24369-12E3-4106-8157-A04A93C02F0E}" type="datetimeFigureOut">
              <a:rPr lang="en-IN" smtClean="0"/>
              <a:t>30-08-2025</a:t>
            </a:fld>
            <a:endParaRPr lang="en-IN" dirty="0"/>
          </a:p>
        </p:txBody>
      </p:sp>
      <p:sp>
        <p:nvSpPr>
          <p:cNvPr id="5" name="Footer Placeholder 4">
            <a:extLst>
              <a:ext uri="{FF2B5EF4-FFF2-40B4-BE49-F238E27FC236}">
                <a16:creationId xmlns:a16="http://schemas.microsoft.com/office/drawing/2014/main" id="{A3E606C6-F8EF-1C24-B1C6-E4185FD3C9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A4C88EB9-52AA-8FA3-688E-219B3B4B8B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D2691-2BB7-47C4-9268-61B96C63AFB1}" type="slidenum">
              <a:rPr lang="en-IN" smtClean="0"/>
              <a:t>‹#›</a:t>
            </a:fld>
            <a:endParaRPr lang="en-IN" dirty="0"/>
          </a:p>
        </p:txBody>
      </p:sp>
    </p:spTree>
    <p:extLst>
      <p:ext uri="{BB962C8B-B14F-4D97-AF65-F5344CB8AC3E}">
        <p14:creationId xmlns:p14="http://schemas.microsoft.com/office/powerpoint/2010/main" val="2600413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808B-8415-669B-566E-94F6E95CF408}"/>
              </a:ext>
            </a:extLst>
          </p:cNvPr>
          <p:cNvSpPr>
            <a:spLocks noGrp="1"/>
          </p:cNvSpPr>
          <p:nvPr>
            <p:ph type="ctrTitle"/>
          </p:nvPr>
        </p:nvSpPr>
        <p:spPr>
          <a:xfrm>
            <a:off x="3453863" y="1288846"/>
            <a:ext cx="9144000" cy="2387600"/>
          </a:xfrm>
        </p:spPr>
        <p:txBody>
          <a:bodyPr>
            <a:normAutofit/>
          </a:bodyPr>
          <a:lstStyle/>
          <a:p>
            <a:r>
              <a:rPr lang="en-IN" sz="4800" b="1" dirty="0">
                <a:solidFill>
                  <a:srgbClr val="C00000"/>
                </a:solidFill>
                <a:latin typeface="Arial" panose="020B0604020202020204" pitchFamily="34" charset="0"/>
                <a:cs typeface="Arial" panose="020B0604020202020204" pitchFamily="34" charset="0"/>
              </a:rPr>
              <a:t>Mastering Google Reviews</a:t>
            </a:r>
          </a:p>
        </p:txBody>
      </p:sp>
      <p:sp>
        <p:nvSpPr>
          <p:cNvPr id="3" name="Subtitle 2">
            <a:extLst>
              <a:ext uri="{FF2B5EF4-FFF2-40B4-BE49-F238E27FC236}">
                <a16:creationId xmlns:a16="http://schemas.microsoft.com/office/drawing/2014/main" id="{5016DCF1-3B86-BAE9-FE87-A0125E1E5767}"/>
              </a:ext>
            </a:extLst>
          </p:cNvPr>
          <p:cNvSpPr>
            <a:spLocks noGrp="1"/>
          </p:cNvSpPr>
          <p:nvPr>
            <p:ph type="subTitle" idx="1"/>
          </p:nvPr>
        </p:nvSpPr>
        <p:spPr>
          <a:xfrm>
            <a:off x="3215148" y="3798684"/>
            <a:ext cx="9144000" cy="1655762"/>
          </a:xfrm>
        </p:spPr>
        <p:txBody>
          <a:bodyPr>
            <a:normAutofit lnSpcReduction="10000"/>
          </a:bodyPr>
          <a:lstStyle/>
          <a:p>
            <a:pPr>
              <a:lnSpc>
                <a:spcPct val="150000"/>
              </a:lnSpc>
            </a:pPr>
            <a:r>
              <a:rPr lang="en-US" sz="2000" dirty="0">
                <a:latin typeface="Arial" panose="020B0604020202020204" pitchFamily="34" charset="0"/>
                <a:cs typeface="Arial" panose="020B0604020202020204" pitchFamily="34" charset="0"/>
              </a:rPr>
              <a:t>Customer Voice</a:t>
            </a:r>
          </a:p>
          <a:p>
            <a:pPr>
              <a:lnSpc>
                <a:spcPct val="150000"/>
              </a:lnSpc>
            </a:pPr>
            <a:r>
              <a:rPr lang="en-US" sz="2000" dirty="0">
                <a:latin typeface="Arial" panose="020B0604020202020204" pitchFamily="34" charset="0"/>
                <a:cs typeface="Arial" panose="020B0604020202020204" pitchFamily="34" charset="0"/>
              </a:rPr>
              <a:t>Our Success</a:t>
            </a:r>
          </a:p>
          <a:p>
            <a:pPr>
              <a:lnSpc>
                <a:spcPct val="150000"/>
              </a:lnSpc>
            </a:pPr>
            <a:r>
              <a:rPr lang="en-IN" sz="2000" b="1" dirty="0">
                <a:solidFill>
                  <a:srgbClr val="C00000"/>
                </a:solidFill>
                <a:latin typeface="Arial" panose="020B0604020202020204" pitchFamily="34" charset="0"/>
                <a:cs typeface="Arial" panose="020B0604020202020204" pitchFamily="34" charset="0"/>
              </a:rPr>
              <a:t>The 5-Star Formula</a:t>
            </a:r>
            <a:endParaRPr lang="en-IN" sz="2000" dirty="0">
              <a:solidFill>
                <a:srgbClr val="C00000"/>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1DB935E0-6EBD-A5A4-C04F-3A7353C156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451" y="5454446"/>
            <a:ext cx="1149394" cy="1149394"/>
          </a:xfrm>
          <a:prstGeom prst="rect">
            <a:avLst/>
          </a:prstGeom>
        </p:spPr>
      </p:pic>
      <p:pic>
        <p:nvPicPr>
          <p:cNvPr id="6" name="Image 0" descr="preencoded.png"/>
          <p:cNvPicPr>
            <a:picLocks noChangeAspect="1"/>
          </p:cNvPicPr>
          <p:nvPr/>
        </p:nvPicPr>
        <p:blipFill rotWithShape="1">
          <a:blip r:embed="rId3"/>
          <a:srcRect l="16140" r="16455"/>
          <a:stretch/>
        </p:blipFill>
        <p:spPr>
          <a:xfrm>
            <a:off x="2040" y="0"/>
            <a:ext cx="3690538" cy="6858000"/>
          </a:xfrm>
          <a:prstGeom prst="rect">
            <a:avLst/>
          </a:prstGeom>
        </p:spPr>
      </p:pic>
      <p:pic>
        <p:nvPicPr>
          <p:cNvPr id="4" name="Picture 3">
            <a:extLst>
              <a:ext uri="{FF2B5EF4-FFF2-40B4-BE49-F238E27FC236}">
                <a16:creationId xmlns:a16="http://schemas.microsoft.com/office/drawing/2014/main" id="{2711B179-E030-4F7D-81C3-EEB10857CCC4}"/>
              </a:ext>
            </a:extLst>
          </p:cNvPr>
          <p:cNvPicPr>
            <a:picLocks noChangeAspect="1"/>
          </p:cNvPicPr>
          <p:nvPr/>
        </p:nvPicPr>
        <p:blipFill>
          <a:blip r:embed="rId4"/>
          <a:stretch>
            <a:fillRect/>
          </a:stretch>
        </p:blipFill>
        <p:spPr>
          <a:xfrm>
            <a:off x="5438979" y="1563851"/>
            <a:ext cx="4893742" cy="937968"/>
          </a:xfrm>
          <a:prstGeom prst="rect">
            <a:avLst/>
          </a:prstGeom>
        </p:spPr>
      </p:pic>
    </p:spTree>
    <p:extLst>
      <p:ext uri="{BB962C8B-B14F-4D97-AF65-F5344CB8AC3E}">
        <p14:creationId xmlns:p14="http://schemas.microsoft.com/office/powerpoint/2010/main" val="4201717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2089-617B-297E-3293-CE3B0E78EA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35BDB3A-DFB9-B6C9-A4FD-4359888BDAEE}"/>
              </a:ext>
            </a:extLst>
          </p:cNvPr>
          <p:cNvSpPr txBox="1"/>
          <p:nvPr/>
        </p:nvSpPr>
        <p:spPr>
          <a:xfrm>
            <a:off x="1782140" y="402958"/>
            <a:ext cx="8062452" cy="590931"/>
          </a:xfrm>
          <a:prstGeom prst="rect">
            <a:avLst/>
          </a:prstGeom>
          <a:noFill/>
        </p:spPr>
        <p:txBody>
          <a:bodyPr wrap="square">
            <a:spAutoFit/>
          </a:bodyPr>
          <a:lstStyle/>
          <a:p>
            <a:pPr algn="ctr">
              <a:lnSpc>
                <a:spcPct val="90000"/>
              </a:lnSpc>
              <a:spcBef>
                <a:spcPct val="0"/>
              </a:spcBef>
            </a:pPr>
            <a:r>
              <a:rPr lang="en-US" sz="3600" b="1" dirty="0">
                <a:solidFill>
                  <a:srgbClr val="C00000"/>
                </a:solidFill>
                <a:latin typeface="Arial" panose="020B0604020202020204" pitchFamily="34" charset="0"/>
                <a:ea typeface="+mj-ea"/>
                <a:cs typeface="Arial" panose="020B0604020202020204" pitchFamily="34" charset="0"/>
              </a:rPr>
              <a:t>What’s your thought on this</a:t>
            </a:r>
            <a:endParaRPr lang="en-IN" sz="3600" b="1" dirty="0">
              <a:solidFill>
                <a:srgbClr val="C00000"/>
              </a:solidFill>
              <a:latin typeface="Arial" panose="020B0604020202020204" pitchFamily="34" charset="0"/>
              <a:ea typeface="+mj-ea"/>
              <a:cs typeface="Arial" panose="020B0604020202020204" pitchFamily="34" charset="0"/>
            </a:endParaRPr>
          </a:p>
        </p:txBody>
      </p:sp>
      <p:pic>
        <p:nvPicPr>
          <p:cNvPr id="10" name="Picture 9">
            <a:extLst>
              <a:ext uri="{FF2B5EF4-FFF2-40B4-BE49-F238E27FC236}">
                <a16:creationId xmlns:a16="http://schemas.microsoft.com/office/drawing/2014/main" id="{4A2CA668-4280-7D7B-D4F7-E4713D519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4027" y="179127"/>
            <a:ext cx="814762" cy="814762"/>
          </a:xfrm>
          <a:prstGeom prst="rect">
            <a:avLst/>
          </a:prstGeom>
        </p:spPr>
      </p:pic>
      <p:pic>
        <p:nvPicPr>
          <p:cNvPr id="8" name="Picture 7">
            <a:extLst>
              <a:ext uri="{FF2B5EF4-FFF2-40B4-BE49-F238E27FC236}">
                <a16:creationId xmlns:a16="http://schemas.microsoft.com/office/drawing/2014/main" id="{74CDD364-5F15-4A69-A939-4DFB5A1BE03A}"/>
              </a:ext>
            </a:extLst>
          </p:cNvPr>
          <p:cNvPicPr>
            <a:picLocks noChangeAspect="1"/>
          </p:cNvPicPr>
          <p:nvPr/>
        </p:nvPicPr>
        <p:blipFill>
          <a:blip r:embed="rId3"/>
          <a:stretch>
            <a:fillRect/>
          </a:stretch>
        </p:blipFill>
        <p:spPr>
          <a:xfrm>
            <a:off x="3164424" y="1157159"/>
            <a:ext cx="5297883" cy="5297883"/>
          </a:xfrm>
          <a:prstGeom prst="rect">
            <a:avLst/>
          </a:prstGeom>
        </p:spPr>
      </p:pic>
    </p:spTree>
    <p:extLst>
      <p:ext uri="{BB962C8B-B14F-4D97-AF65-F5344CB8AC3E}">
        <p14:creationId xmlns:p14="http://schemas.microsoft.com/office/powerpoint/2010/main" val="270240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CFD42B-E51B-8379-E976-A8874B69D516}"/>
              </a:ext>
            </a:extLst>
          </p:cNvPr>
          <p:cNvSpPr txBox="1"/>
          <p:nvPr/>
        </p:nvSpPr>
        <p:spPr>
          <a:xfrm>
            <a:off x="1981646" y="395042"/>
            <a:ext cx="8062452" cy="590931"/>
          </a:xfrm>
          <a:prstGeom prst="rect">
            <a:avLst/>
          </a:prstGeom>
          <a:noFill/>
        </p:spPr>
        <p:txBody>
          <a:bodyPr wrap="square">
            <a:spAutoFit/>
          </a:bodyPr>
          <a:lstStyle/>
          <a:p>
            <a:pPr algn="ctr">
              <a:lnSpc>
                <a:spcPct val="90000"/>
              </a:lnSpc>
              <a:spcBef>
                <a:spcPct val="0"/>
              </a:spcBef>
            </a:pPr>
            <a:r>
              <a:rPr lang="en-US" sz="3600" b="1" dirty="0">
                <a:solidFill>
                  <a:srgbClr val="C00000"/>
                </a:solidFill>
                <a:latin typeface="Arial" panose="020B0604020202020204" pitchFamily="34" charset="0"/>
                <a:ea typeface="+mj-ea"/>
                <a:cs typeface="Arial" panose="020B0604020202020204" pitchFamily="34" charset="0"/>
              </a:rPr>
              <a:t>What’s your thought on this</a:t>
            </a:r>
            <a:endParaRPr lang="en-IN" sz="3600" b="1" dirty="0">
              <a:solidFill>
                <a:srgbClr val="C00000"/>
              </a:solidFill>
              <a:latin typeface="Arial" panose="020B0604020202020204" pitchFamily="34" charset="0"/>
              <a:ea typeface="+mj-ea"/>
              <a:cs typeface="Arial" panose="020B0604020202020204" pitchFamily="34" charset="0"/>
            </a:endParaRPr>
          </a:p>
        </p:txBody>
      </p:sp>
      <p:pic>
        <p:nvPicPr>
          <p:cNvPr id="1028" name="Picture 4" descr="Amazon to open another brick-and-mortar store in N.J. - nj.com">
            <a:extLst>
              <a:ext uri="{FF2B5EF4-FFF2-40B4-BE49-F238E27FC236}">
                <a16:creationId xmlns:a16="http://schemas.microsoft.com/office/drawing/2014/main" id="{5A3D2309-4EC7-B8AD-4F6D-FDBDA5B35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4328" y="1207462"/>
            <a:ext cx="3549445" cy="2363930"/>
          </a:xfrm>
          <a:prstGeom prst="rect">
            <a:avLst/>
          </a:prstGeom>
          <a:noFill/>
          <a:ln w="19050">
            <a:solidFill>
              <a:srgbClr val="0070C0"/>
            </a:solidFill>
          </a:ln>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2C90A22-6C3F-63AB-8AE3-81DA24E9A162}"/>
              </a:ext>
            </a:extLst>
          </p:cNvPr>
          <p:cNvPicPr>
            <a:picLocks noChangeAspect="1"/>
          </p:cNvPicPr>
          <p:nvPr/>
        </p:nvPicPr>
        <p:blipFill>
          <a:blip r:embed="rId3"/>
          <a:stretch>
            <a:fillRect/>
          </a:stretch>
        </p:blipFill>
        <p:spPr>
          <a:xfrm>
            <a:off x="242149" y="1207462"/>
            <a:ext cx="3976823" cy="2390280"/>
          </a:xfrm>
          <a:prstGeom prst="rect">
            <a:avLst/>
          </a:prstGeom>
          <a:ln w="28575">
            <a:solidFill>
              <a:schemeClr val="accent4">
                <a:lumMod val="75000"/>
              </a:schemeClr>
            </a:solidFill>
          </a:ln>
        </p:spPr>
      </p:pic>
      <p:pic>
        <p:nvPicPr>
          <p:cNvPr id="1032" name="Picture 8" descr="Uber has a new definition for '5 stars'">
            <a:extLst>
              <a:ext uri="{FF2B5EF4-FFF2-40B4-BE49-F238E27FC236}">
                <a16:creationId xmlns:a16="http://schemas.microsoft.com/office/drawing/2014/main" id="{69321A80-31BB-9444-F8B1-3D83D25A05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7654" y="3776939"/>
            <a:ext cx="1547024" cy="2948221"/>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03597C8-3B38-82A2-5D27-1ED750F58568}"/>
              </a:ext>
            </a:extLst>
          </p:cNvPr>
          <p:cNvPicPr>
            <a:picLocks noChangeAspect="1"/>
          </p:cNvPicPr>
          <p:nvPr/>
        </p:nvPicPr>
        <p:blipFill>
          <a:blip r:embed="rId5"/>
          <a:srcRect b="31797"/>
          <a:stretch>
            <a:fillRect/>
          </a:stretch>
        </p:blipFill>
        <p:spPr>
          <a:xfrm>
            <a:off x="4591664" y="1197699"/>
            <a:ext cx="3277950" cy="2400043"/>
          </a:xfrm>
          <a:prstGeom prst="rect">
            <a:avLst/>
          </a:prstGeom>
          <a:ln w="28575">
            <a:solidFill>
              <a:schemeClr val="accent5">
                <a:lumMod val="75000"/>
              </a:schemeClr>
            </a:solidFill>
          </a:ln>
        </p:spPr>
      </p:pic>
      <p:pic>
        <p:nvPicPr>
          <p:cNvPr id="8" name="Picture 7">
            <a:extLst>
              <a:ext uri="{FF2B5EF4-FFF2-40B4-BE49-F238E27FC236}">
                <a16:creationId xmlns:a16="http://schemas.microsoft.com/office/drawing/2014/main" id="{E2C01243-4811-CE60-BDFB-B205446BE183}"/>
              </a:ext>
            </a:extLst>
          </p:cNvPr>
          <p:cNvPicPr>
            <a:picLocks noChangeAspect="1"/>
          </p:cNvPicPr>
          <p:nvPr/>
        </p:nvPicPr>
        <p:blipFill>
          <a:blip r:embed="rId6"/>
          <a:stretch>
            <a:fillRect/>
          </a:stretch>
        </p:blipFill>
        <p:spPr>
          <a:xfrm>
            <a:off x="242149" y="3827499"/>
            <a:ext cx="4908859" cy="2691228"/>
          </a:xfrm>
          <a:prstGeom prst="rect">
            <a:avLst/>
          </a:prstGeom>
          <a:ln w="38100">
            <a:solidFill>
              <a:schemeClr val="tx1"/>
            </a:solidFill>
          </a:ln>
          <a:effectLst>
            <a:glow rad="63500">
              <a:schemeClr val="accent6">
                <a:satMod val="175000"/>
                <a:alpha val="40000"/>
              </a:schemeClr>
            </a:glow>
          </a:effectLst>
        </p:spPr>
      </p:pic>
      <p:pic>
        <p:nvPicPr>
          <p:cNvPr id="10" name="Picture 9">
            <a:extLst>
              <a:ext uri="{FF2B5EF4-FFF2-40B4-BE49-F238E27FC236}">
                <a16:creationId xmlns:a16="http://schemas.microsoft.com/office/drawing/2014/main" id="{41CA57BA-6A4B-AFE7-A863-C3476EDCAEEB}"/>
              </a:ext>
            </a:extLst>
          </p:cNvPr>
          <p:cNvPicPr>
            <a:picLocks noChangeAspect="1"/>
          </p:cNvPicPr>
          <p:nvPr/>
        </p:nvPicPr>
        <p:blipFill>
          <a:blip r:embed="rId7"/>
          <a:stretch>
            <a:fillRect/>
          </a:stretch>
        </p:blipFill>
        <p:spPr>
          <a:xfrm>
            <a:off x="7131324" y="3776939"/>
            <a:ext cx="4867688" cy="2998781"/>
          </a:xfrm>
          <a:prstGeom prst="rect">
            <a:avLst/>
          </a:prstGeom>
          <a:ln w="28575">
            <a:solidFill>
              <a:srgbClr val="00B0F0"/>
            </a:solidFill>
          </a:ln>
        </p:spPr>
      </p:pic>
      <p:pic>
        <p:nvPicPr>
          <p:cNvPr id="11" name="Picture 10">
            <a:extLst>
              <a:ext uri="{FF2B5EF4-FFF2-40B4-BE49-F238E27FC236}">
                <a16:creationId xmlns:a16="http://schemas.microsoft.com/office/drawing/2014/main" id="{2C2B5A37-CB5D-8737-C417-42EB3A2B8E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322651" y="107098"/>
            <a:ext cx="782244" cy="782244"/>
          </a:xfrm>
          <a:prstGeom prst="rect">
            <a:avLst/>
          </a:prstGeom>
        </p:spPr>
      </p:pic>
    </p:spTree>
    <p:extLst>
      <p:ext uri="{BB962C8B-B14F-4D97-AF65-F5344CB8AC3E}">
        <p14:creationId xmlns:p14="http://schemas.microsoft.com/office/powerpoint/2010/main" val="345436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413D0-170F-2FFA-A7A3-3001393B1217}"/>
              </a:ext>
            </a:extLst>
          </p:cNvPr>
          <p:cNvSpPr>
            <a:spLocks noGrp="1"/>
          </p:cNvSpPr>
          <p:nvPr>
            <p:ph type="title"/>
          </p:nvPr>
        </p:nvSpPr>
        <p:spPr>
          <a:xfrm>
            <a:off x="262977" y="396549"/>
            <a:ext cx="8361077" cy="621297"/>
          </a:xfrm>
        </p:spPr>
        <p:txBody>
          <a:bodyPr>
            <a:noAutofit/>
          </a:bodyPr>
          <a:lstStyle/>
          <a:p>
            <a:r>
              <a:rPr lang="en-US" sz="3200" b="1" dirty="0">
                <a:solidFill>
                  <a:srgbClr val="C00000"/>
                </a:solidFill>
                <a:latin typeface="Arial" panose="020B0604020202020204" pitchFamily="34" charset="0"/>
                <a:cs typeface="Arial" panose="020B0604020202020204" pitchFamily="34" charset="0"/>
              </a:rPr>
              <a:t>What is in it for me &amp; my showroom</a:t>
            </a:r>
            <a:endParaRPr lang="en-IN" sz="3200" b="1" dirty="0">
              <a:solidFill>
                <a:srgbClr val="C0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D788C0C-DC5B-F58B-7977-E65349003BF1}"/>
              </a:ext>
            </a:extLst>
          </p:cNvPr>
          <p:cNvPicPr>
            <a:picLocks noChangeAspect="1"/>
          </p:cNvPicPr>
          <p:nvPr/>
        </p:nvPicPr>
        <p:blipFill>
          <a:blip r:embed="rId2"/>
          <a:stretch>
            <a:fillRect/>
          </a:stretch>
        </p:blipFill>
        <p:spPr>
          <a:xfrm>
            <a:off x="6589557" y="1523810"/>
            <a:ext cx="5349704" cy="1310754"/>
          </a:xfrm>
          <a:prstGeom prst="rect">
            <a:avLst/>
          </a:prstGeom>
        </p:spPr>
      </p:pic>
      <p:sp>
        <p:nvSpPr>
          <p:cNvPr id="14" name="TextBox 13">
            <a:extLst>
              <a:ext uri="{FF2B5EF4-FFF2-40B4-BE49-F238E27FC236}">
                <a16:creationId xmlns:a16="http://schemas.microsoft.com/office/drawing/2014/main" id="{1EF2BBC7-C050-4325-4C89-533E0CEF8409}"/>
              </a:ext>
            </a:extLst>
          </p:cNvPr>
          <p:cNvSpPr txBox="1"/>
          <p:nvPr/>
        </p:nvSpPr>
        <p:spPr>
          <a:xfrm>
            <a:off x="185725" y="1137344"/>
            <a:ext cx="6329017" cy="548278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u="none" strike="noStrike" cap="none" normalizeH="0" baseline="0" dirty="0">
                <a:ln>
                  <a:noFill/>
                </a:ln>
                <a:solidFill>
                  <a:schemeClr val="accent1"/>
                </a:solidFill>
                <a:effectLst/>
                <a:latin typeface="Arial" panose="020B0604020202020204" pitchFamily="34" charset="0"/>
                <a:cs typeface="Arial" panose="020B0604020202020204" pitchFamily="34" charset="0"/>
              </a:rPr>
              <a:t>Better Online Visibility</a:t>
            </a:r>
            <a:endParaRPr kumimoji="0" lang="en-US" altLang="en-US" sz="1600" b="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Google shows highly-rated showrooms at the </a:t>
            </a:r>
            <a:r>
              <a:rPr kumimoji="0" lang="en-US" altLang="en-US"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top of search results</a:t>
            </a: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0" u="none" strike="noStrike" cap="none" normalizeH="0" baseline="0" dirty="0">
                <a:ln>
                  <a:noFill/>
                </a:ln>
                <a:solidFill>
                  <a:schemeClr val="accent4">
                    <a:lumMod val="50000"/>
                  </a:schemeClr>
                </a:solidFill>
                <a:effectLst/>
                <a:latin typeface="Arial" panose="020B0604020202020204" pitchFamily="34" charset="0"/>
                <a:cs typeface="Arial" panose="020B0604020202020204" pitchFamily="34" charset="0"/>
              </a:rPr>
              <a:t>Example: “Gold jewelers near me” → 4.5★ showroom appears first.</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05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u="none" strike="noStrike" cap="none" normalizeH="0" baseline="0" dirty="0">
                <a:ln>
                  <a:noFill/>
                </a:ln>
                <a:solidFill>
                  <a:schemeClr val="accent1"/>
                </a:solidFill>
                <a:effectLst/>
                <a:latin typeface="Arial" panose="020B0604020202020204" pitchFamily="34" charset="0"/>
                <a:cs typeface="Arial" panose="020B0604020202020204" pitchFamily="34" charset="0"/>
              </a:rPr>
              <a:t>Attracts High-Value Customers</a:t>
            </a:r>
            <a:endParaRPr kumimoji="0" lang="en-US" altLang="en-US" sz="1600" b="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Wealthy or bridal shoppers prefer </a:t>
            </a:r>
            <a:r>
              <a:rPr kumimoji="0" lang="en-US" altLang="en-US"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trusted names</a:t>
            </a: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with strong reviews → Bigger ticket sales – Increases Footfalls</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1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u="none" strike="noStrike" cap="none" normalizeH="0" baseline="0" dirty="0">
                <a:ln>
                  <a:noFill/>
                </a:ln>
                <a:solidFill>
                  <a:schemeClr val="accent1"/>
                </a:solidFill>
                <a:effectLst/>
                <a:latin typeface="Arial" panose="020B0604020202020204" pitchFamily="34" charset="0"/>
                <a:cs typeface="Arial" panose="020B0604020202020204" pitchFamily="34" charset="0"/>
              </a:rPr>
              <a:t>Motivates Staff</a:t>
            </a:r>
            <a:endParaRPr kumimoji="0" lang="en-US" altLang="en-US" sz="1600" b="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Showroom gets recognized online → Staff morale and performance increases to earn more incentives. </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8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u="none" strike="noStrike" cap="none" normalizeH="0" baseline="0" dirty="0">
                <a:ln>
                  <a:noFill/>
                </a:ln>
                <a:solidFill>
                  <a:srgbClr val="0070C0"/>
                </a:solidFill>
                <a:effectLst/>
                <a:latin typeface="Arial" panose="020B0604020202020204" pitchFamily="34" charset="0"/>
                <a:cs typeface="Arial" panose="020B0604020202020204" pitchFamily="34" charset="0"/>
              </a:rPr>
              <a:t>Increased Sales Conversion</a:t>
            </a:r>
            <a:endParaRPr kumimoji="0" lang="en-US" altLang="en-US" sz="1600" b="0" u="none" strike="noStrike" cap="none" normalizeH="0" baseline="0" dirty="0">
              <a:ln>
                <a:noFill/>
              </a:ln>
              <a:solidFill>
                <a:srgbClr val="0070C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Customers enter with confidence after reading good reviews → Easier to convert into purchase.</a:t>
            </a:r>
          </a:p>
        </p:txBody>
      </p:sp>
      <p:pic>
        <p:nvPicPr>
          <p:cNvPr id="16" name="Picture 15">
            <a:extLst>
              <a:ext uri="{FF2B5EF4-FFF2-40B4-BE49-F238E27FC236}">
                <a16:creationId xmlns:a16="http://schemas.microsoft.com/office/drawing/2014/main" id="{92AB21FE-0B3B-BC0D-7127-D7C0E125A0B1}"/>
              </a:ext>
            </a:extLst>
          </p:cNvPr>
          <p:cNvPicPr>
            <a:picLocks noChangeAspect="1"/>
          </p:cNvPicPr>
          <p:nvPr/>
        </p:nvPicPr>
        <p:blipFill>
          <a:blip r:embed="rId3"/>
          <a:stretch>
            <a:fillRect/>
          </a:stretch>
        </p:blipFill>
        <p:spPr>
          <a:xfrm>
            <a:off x="6852626" y="3391516"/>
            <a:ext cx="4823566" cy="2977814"/>
          </a:xfrm>
          <a:prstGeom prst="rect">
            <a:avLst/>
          </a:prstGeom>
        </p:spPr>
      </p:pic>
      <p:pic>
        <p:nvPicPr>
          <p:cNvPr id="17" name="Picture 16">
            <a:extLst>
              <a:ext uri="{FF2B5EF4-FFF2-40B4-BE49-F238E27FC236}">
                <a16:creationId xmlns:a16="http://schemas.microsoft.com/office/drawing/2014/main" id="{4B90B32B-ACF1-ACAC-CFE2-D59D0FB752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58331" y="173720"/>
            <a:ext cx="782244" cy="782244"/>
          </a:xfrm>
          <a:prstGeom prst="rect">
            <a:avLst/>
          </a:prstGeom>
        </p:spPr>
      </p:pic>
    </p:spTree>
    <p:extLst>
      <p:ext uri="{BB962C8B-B14F-4D97-AF65-F5344CB8AC3E}">
        <p14:creationId xmlns:p14="http://schemas.microsoft.com/office/powerpoint/2010/main" val="46255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0" descr="preencoded.png">
            <a:extLst>
              <a:ext uri="{FF2B5EF4-FFF2-40B4-BE49-F238E27FC236}">
                <a16:creationId xmlns:a16="http://schemas.microsoft.com/office/drawing/2014/main" id="{64F2955E-3B11-4CD4-AACD-BD3EB6F0C678}"/>
              </a:ext>
            </a:extLst>
          </p:cNvPr>
          <p:cNvPicPr>
            <a:picLocks noChangeAspect="1"/>
          </p:cNvPicPr>
          <p:nvPr/>
        </p:nvPicPr>
        <p:blipFill rotWithShape="1">
          <a:blip r:embed="rId3"/>
          <a:srcRect r="38450"/>
          <a:stretch/>
        </p:blipFill>
        <p:spPr>
          <a:xfrm>
            <a:off x="0" y="-17958"/>
            <a:ext cx="4248150" cy="6901953"/>
          </a:xfrm>
          <a:prstGeom prst="rect">
            <a:avLst/>
          </a:prstGeom>
        </p:spPr>
      </p:pic>
      <p:sp>
        <p:nvSpPr>
          <p:cNvPr id="15" name="TextBox 14">
            <a:extLst>
              <a:ext uri="{FF2B5EF4-FFF2-40B4-BE49-F238E27FC236}">
                <a16:creationId xmlns:a16="http://schemas.microsoft.com/office/drawing/2014/main" id="{D8A46CE9-F02A-4603-B663-169654488DA8}"/>
              </a:ext>
            </a:extLst>
          </p:cNvPr>
          <p:cNvSpPr txBox="1"/>
          <p:nvPr/>
        </p:nvSpPr>
        <p:spPr>
          <a:xfrm>
            <a:off x="4553858" y="1928006"/>
            <a:ext cx="6096000"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E-commerce Websites &amp; Apps</a:t>
            </a:r>
          </a:p>
        </p:txBody>
      </p:sp>
      <p:sp>
        <p:nvSpPr>
          <p:cNvPr id="17" name="TextBox 16">
            <a:extLst>
              <a:ext uri="{FF2B5EF4-FFF2-40B4-BE49-F238E27FC236}">
                <a16:creationId xmlns:a16="http://schemas.microsoft.com/office/drawing/2014/main" id="{1765D701-A1BF-4E63-8445-13B26DC5CE0E}"/>
              </a:ext>
            </a:extLst>
          </p:cNvPr>
          <p:cNvSpPr txBox="1"/>
          <p:nvPr/>
        </p:nvSpPr>
        <p:spPr>
          <a:xfrm>
            <a:off x="4553858" y="2751164"/>
            <a:ext cx="6096000"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Feedback Forms &amp; Reviews </a:t>
            </a:r>
          </a:p>
        </p:txBody>
      </p:sp>
      <p:sp>
        <p:nvSpPr>
          <p:cNvPr id="19" name="TextBox 18">
            <a:extLst>
              <a:ext uri="{FF2B5EF4-FFF2-40B4-BE49-F238E27FC236}">
                <a16:creationId xmlns:a16="http://schemas.microsoft.com/office/drawing/2014/main" id="{75000EF1-2925-45CC-84A4-6C353A047A4F}"/>
              </a:ext>
            </a:extLst>
          </p:cNvPr>
          <p:cNvSpPr txBox="1"/>
          <p:nvPr/>
        </p:nvSpPr>
        <p:spPr>
          <a:xfrm>
            <a:off x="4553858" y="3506672"/>
            <a:ext cx="6096000"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Social Media &amp; Google Reviews </a:t>
            </a:r>
          </a:p>
        </p:txBody>
      </p:sp>
      <p:sp>
        <p:nvSpPr>
          <p:cNvPr id="21" name="TextBox 20">
            <a:extLst>
              <a:ext uri="{FF2B5EF4-FFF2-40B4-BE49-F238E27FC236}">
                <a16:creationId xmlns:a16="http://schemas.microsoft.com/office/drawing/2014/main" id="{7545FAAA-ECC2-4B74-A619-84BEE0998803}"/>
              </a:ext>
            </a:extLst>
          </p:cNvPr>
          <p:cNvSpPr txBox="1"/>
          <p:nvPr/>
        </p:nvSpPr>
        <p:spPr>
          <a:xfrm>
            <a:off x="4418231" y="425876"/>
            <a:ext cx="6096000" cy="810350"/>
          </a:xfrm>
          <a:prstGeom prst="rect">
            <a:avLst/>
          </a:prstGeom>
          <a:noFill/>
        </p:spPr>
        <p:txBody>
          <a:bodyPr wrap="square">
            <a:spAutoFit/>
          </a:bodyPr>
          <a:lstStyle/>
          <a:p>
            <a:r>
              <a:rPr lang="en-US" sz="2333" b="1" dirty="0">
                <a:solidFill>
                  <a:srgbClr val="C00000"/>
                </a:solidFill>
                <a:latin typeface="Arial" panose="020B0604020202020204" pitchFamily="34" charset="0"/>
                <a:cs typeface="Arial" panose="020B0604020202020204" pitchFamily="34" charset="0"/>
              </a:rPr>
              <a:t>How AI Tools Handle Jewellery Data &amp; Feedback</a:t>
            </a:r>
          </a:p>
        </p:txBody>
      </p:sp>
      <p:pic>
        <p:nvPicPr>
          <p:cNvPr id="1026" name="Picture 2" descr="ProManage.biz | LinkedIn">
            <a:extLst>
              <a:ext uri="{FF2B5EF4-FFF2-40B4-BE49-F238E27FC236}">
                <a16:creationId xmlns:a16="http://schemas.microsoft.com/office/drawing/2014/main" id="{B0BCF6FD-B5ED-4B23-9C09-45649FFF12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3858" y="4695287"/>
            <a:ext cx="999044" cy="9990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4A69270-DEFE-4A9F-BA02-8E18A620D6B8}"/>
              </a:ext>
            </a:extLst>
          </p:cNvPr>
          <p:cNvPicPr>
            <a:picLocks noChangeAspect="1"/>
          </p:cNvPicPr>
          <p:nvPr/>
        </p:nvPicPr>
        <p:blipFill>
          <a:blip r:embed="rId5"/>
          <a:stretch>
            <a:fillRect/>
          </a:stretch>
        </p:blipFill>
        <p:spPr>
          <a:xfrm>
            <a:off x="5772117" y="4015806"/>
            <a:ext cx="4868123" cy="2791783"/>
          </a:xfrm>
          <a:prstGeom prst="rect">
            <a:avLst/>
          </a:prstGeom>
        </p:spPr>
      </p:pic>
    </p:spTree>
    <p:extLst>
      <p:ext uri="{BB962C8B-B14F-4D97-AF65-F5344CB8AC3E}">
        <p14:creationId xmlns:p14="http://schemas.microsoft.com/office/powerpoint/2010/main" val="354680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E5097-6E49-CEC0-F8DF-3CD2A72B51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9186E1-9FE1-EB8D-8A5E-401716C719BE}"/>
              </a:ext>
            </a:extLst>
          </p:cNvPr>
          <p:cNvSpPr txBox="1"/>
          <p:nvPr/>
        </p:nvSpPr>
        <p:spPr>
          <a:xfrm>
            <a:off x="448527" y="1092425"/>
            <a:ext cx="8687160" cy="5847755"/>
          </a:xfrm>
          <a:prstGeom prst="rect">
            <a:avLst/>
          </a:prstGeom>
          <a:noFill/>
        </p:spPr>
        <p:txBody>
          <a:bodyPr wrap="square">
            <a:spAutoFit/>
          </a:bodyPr>
          <a:lstStyle/>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Loss of Walk-ins</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“Staff was rude, gold rate too high” → Potential customers skip your showroom.</a:t>
            </a:r>
          </a:p>
          <a:p>
            <a:pPr marR="0" lvl="0" indent="0" eaLnBrk="0" fontAlgn="base" hangingPunct="0">
              <a:lnSpc>
                <a:spcPct val="150000"/>
              </a:lnSpc>
              <a:spcBef>
                <a:spcPct val="0"/>
              </a:spcBef>
              <a:spcAft>
                <a:spcPct val="0"/>
              </a:spcAft>
              <a:buClrTx/>
              <a:buSzTx/>
              <a:tabLst/>
            </a:pPr>
            <a:endParaRPr lang="en-US" altLang="en-US" sz="1400" dirty="0">
              <a:latin typeface="Arial" panose="020B0604020202020204" pitchFamily="34" charset="0"/>
              <a:cs typeface="Arial" panose="020B0604020202020204" pitchFamily="34" charset="0"/>
            </a:endParaRPr>
          </a:p>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Damage to Brand Image</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Even one detailed bad review (about purity, cheating, or behavior) can go viral → Reputation loss.</a:t>
            </a:r>
          </a:p>
          <a:p>
            <a:pPr marR="0" lvl="0" indent="0" eaLnBrk="0" fontAlgn="base" hangingPunct="0">
              <a:lnSpc>
                <a:spcPct val="150000"/>
              </a:lnSpc>
              <a:spcBef>
                <a:spcPct val="0"/>
              </a:spcBef>
              <a:spcAft>
                <a:spcPct val="0"/>
              </a:spcAft>
              <a:buClrTx/>
              <a:buSzTx/>
              <a:tabLst/>
            </a:pPr>
            <a:endParaRPr lang="en-US" altLang="en-US" sz="1200" dirty="0">
              <a:latin typeface="Arial" panose="020B0604020202020204" pitchFamily="34" charset="0"/>
              <a:cs typeface="Arial" panose="020B0604020202020204" pitchFamily="34" charset="0"/>
            </a:endParaRPr>
          </a:p>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Reduced Online Visibility</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Low ratings push the showroom down in Google search → Competitors benefit.</a:t>
            </a:r>
          </a:p>
          <a:p>
            <a:pPr marR="0" lvl="0" indent="0" eaLnBrk="0" fontAlgn="base" hangingPunct="0">
              <a:lnSpc>
                <a:spcPct val="150000"/>
              </a:lnSpc>
              <a:spcBef>
                <a:spcPct val="0"/>
              </a:spcBef>
              <a:spcAft>
                <a:spcPct val="0"/>
              </a:spcAft>
              <a:buClrTx/>
              <a:buSzTx/>
              <a:tabLst/>
            </a:pPr>
            <a:endParaRPr lang="en-US" altLang="en-US" sz="1200" dirty="0">
              <a:latin typeface="Arial" panose="020B0604020202020204" pitchFamily="34" charset="0"/>
              <a:cs typeface="Arial" panose="020B0604020202020204" pitchFamily="34" charset="0"/>
            </a:endParaRPr>
          </a:p>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Customer Hesitation</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A buyer may enter but avoid high-value purchases if they’ve read negative comments.</a:t>
            </a:r>
          </a:p>
          <a:p>
            <a:pPr marR="0" lvl="0" indent="0" eaLnBrk="0" fontAlgn="base" hangingPunct="0">
              <a:lnSpc>
                <a:spcPct val="150000"/>
              </a:lnSpc>
              <a:spcBef>
                <a:spcPct val="0"/>
              </a:spcBef>
              <a:spcAft>
                <a:spcPct val="0"/>
              </a:spcAft>
              <a:buClrTx/>
              <a:buSzTx/>
              <a:buFontTx/>
              <a:buChar char="•"/>
              <a:tabLst/>
            </a:pPr>
            <a:endParaRPr lang="en-US" altLang="en-US" sz="1200" dirty="0">
              <a:latin typeface="Arial" panose="020B0604020202020204" pitchFamily="34" charset="0"/>
              <a:cs typeface="Arial" panose="020B0604020202020204" pitchFamily="34" charset="0"/>
            </a:endParaRPr>
          </a:p>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Impact on Staff Monitoring</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Negative reviews force management to tighten rules → More pressure on staff.</a:t>
            </a:r>
          </a:p>
          <a:p>
            <a:pPr marR="0" lvl="0" indent="0" eaLnBrk="0" fontAlgn="base" hangingPunct="0">
              <a:lnSpc>
                <a:spcPct val="150000"/>
              </a:lnSpc>
              <a:spcBef>
                <a:spcPct val="0"/>
              </a:spcBef>
              <a:spcAft>
                <a:spcPct val="0"/>
              </a:spcAft>
              <a:buClrTx/>
              <a:buSzTx/>
              <a:buFontTx/>
              <a:buChar char="•"/>
              <a:tabLst/>
            </a:pPr>
            <a:endParaRPr lang="en-US" altLang="en-US" sz="1200" b="1" dirty="0">
              <a:solidFill>
                <a:schemeClr val="accent1"/>
              </a:solidFill>
              <a:latin typeface="Arial" panose="020B0604020202020204" pitchFamily="34" charset="0"/>
              <a:cs typeface="Arial" panose="020B0604020202020204" pitchFamily="34" charset="0"/>
            </a:endParaRPr>
          </a:p>
          <a:p>
            <a:pPr marR="0" lvl="0" indent="0" eaLnBrk="0" fontAlgn="base" hangingPunct="0">
              <a:lnSpc>
                <a:spcPct val="150000"/>
              </a:lnSpc>
              <a:spcBef>
                <a:spcPct val="0"/>
              </a:spcBef>
              <a:spcAft>
                <a:spcPct val="0"/>
              </a:spcAft>
              <a:buClrTx/>
              <a:buSzTx/>
              <a:tabLst/>
            </a:pPr>
            <a:r>
              <a:rPr lang="en-US" altLang="en-US" sz="1600" b="1" dirty="0">
                <a:solidFill>
                  <a:schemeClr val="accent1"/>
                </a:solidFill>
                <a:latin typeface="Arial" panose="020B0604020202020204" pitchFamily="34" charset="0"/>
                <a:cs typeface="Arial" panose="020B0604020202020204" pitchFamily="34" charset="0"/>
              </a:rPr>
              <a:t>Loss of Repeat Customers</a:t>
            </a:r>
          </a:p>
          <a:p>
            <a:pPr marR="0" lvl="0" indent="0" eaLnBrk="0" fontAlgn="base" hangingPunct="0">
              <a:lnSpc>
                <a:spcPct val="150000"/>
              </a:lnSpc>
              <a:spcBef>
                <a:spcPct val="0"/>
              </a:spcBef>
              <a:spcAft>
                <a:spcPct val="0"/>
              </a:spcAft>
              <a:buClrTx/>
              <a:buSzTx/>
              <a:buFontTx/>
              <a:buChar char="•"/>
              <a:tabLst/>
            </a:pPr>
            <a:r>
              <a:rPr lang="en-US" altLang="en-US" sz="1400" dirty="0">
                <a:latin typeface="Arial" panose="020B0604020202020204" pitchFamily="34" charset="0"/>
                <a:cs typeface="Arial" panose="020B0604020202020204" pitchFamily="34" charset="0"/>
              </a:rPr>
              <a:t>“Won’t come again” in reviews → Store loses loyal families who usually buy for weddings, functions,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5" name="Text 0">
            <a:extLst>
              <a:ext uri="{FF2B5EF4-FFF2-40B4-BE49-F238E27FC236}">
                <a16:creationId xmlns:a16="http://schemas.microsoft.com/office/drawing/2014/main" id="{00C3F1E8-3594-0BB4-3A05-4033B560B646}"/>
              </a:ext>
            </a:extLst>
          </p:cNvPr>
          <p:cNvSpPr/>
          <p:nvPr/>
        </p:nvSpPr>
        <p:spPr>
          <a:xfrm>
            <a:off x="372383" y="463711"/>
            <a:ext cx="5831682" cy="410568"/>
          </a:xfrm>
          <a:prstGeom prst="rect">
            <a:avLst/>
          </a:prstGeom>
          <a:noFill/>
          <a:ln/>
        </p:spPr>
        <p:txBody>
          <a:bodyPr wrap="none" lIns="0" tIns="0" rIns="0" bIns="0" rtlCol="0" anchor="t"/>
          <a:lstStyle/>
          <a:p>
            <a:pPr>
              <a:lnSpc>
                <a:spcPct val="90000"/>
              </a:lnSpc>
              <a:spcBef>
                <a:spcPct val="0"/>
              </a:spcBef>
            </a:pPr>
            <a:r>
              <a:rPr lang="en-US" sz="3200" b="1" dirty="0">
                <a:solidFill>
                  <a:srgbClr val="C00000"/>
                </a:solidFill>
                <a:latin typeface="Arial" panose="020B0604020202020204" pitchFamily="34" charset="0"/>
                <a:ea typeface="+mj-ea"/>
                <a:cs typeface="Arial" panose="020B0604020202020204" pitchFamily="34" charset="0"/>
              </a:rPr>
              <a:t>Why google review is important for sales staff</a:t>
            </a:r>
          </a:p>
        </p:txBody>
      </p:sp>
    </p:spTree>
    <p:extLst>
      <p:ext uri="{BB962C8B-B14F-4D97-AF65-F5344CB8AC3E}">
        <p14:creationId xmlns:p14="http://schemas.microsoft.com/office/powerpoint/2010/main" val="1328937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4318" y="466487"/>
            <a:ext cx="5831682" cy="410568"/>
          </a:xfrm>
          <a:prstGeom prst="rect">
            <a:avLst/>
          </a:prstGeom>
          <a:noFill/>
          <a:ln/>
        </p:spPr>
        <p:txBody>
          <a:bodyPr wrap="none" lIns="0" tIns="0" rIns="0" bIns="0" rtlCol="0" anchor="t"/>
          <a:lstStyle/>
          <a:p>
            <a:pPr>
              <a:lnSpc>
                <a:spcPct val="90000"/>
              </a:lnSpc>
              <a:spcBef>
                <a:spcPct val="0"/>
              </a:spcBef>
            </a:pPr>
            <a:r>
              <a:rPr lang="en-US" sz="3200" b="1" dirty="0">
                <a:solidFill>
                  <a:srgbClr val="C00000"/>
                </a:solidFill>
                <a:latin typeface="Arial" panose="020B0604020202020204" pitchFamily="34" charset="0"/>
                <a:ea typeface="+mj-ea"/>
                <a:cs typeface="Arial" panose="020B0604020202020204" pitchFamily="34" charset="0"/>
              </a:rPr>
              <a:t>Why google review is important for sales staff</a:t>
            </a:r>
          </a:p>
        </p:txBody>
      </p:sp>
      <p:sp>
        <p:nvSpPr>
          <p:cNvPr id="36" name="TextBox 35">
            <a:extLst>
              <a:ext uri="{FF2B5EF4-FFF2-40B4-BE49-F238E27FC236}">
                <a16:creationId xmlns:a16="http://schemas.microsoft.com/office/drawing/2014/main" id="{D37A682D-13BB-4863-A011-C277D6823FB6}"/>
              </a:ext>
            </a:extLst>
          </p:cNvPr>
          <p:cNvSpPr txBox="1"/>
          <p:nvPr/>
        </p:nvSpPr>
        <p:spPr>
          <a:xfrm>
            <a:off x="6096000" y="1893024"/>
            <a:ext cx="5979166" cy="1345048"/>
          </a:xfrm>
          <a:prstGeom prst="rect">
            <a:avLst/>
          </a:prstGeom>
          <a:noFill/>
        </p:spPr>
        <p:txBody>
          <a:bodyPr wrap="square">
            <a:spAutoFit/>
          </a:bodyPr>
          <a:lstStyle/>
          <a:p>
            <a:pPr eaLnBrk="0" fontAlgn="base" hangingPunct="0">
              <a:lnSpc>
                <a:spcPct val="150000"/>
              </a:lnSpc>
              <a:spcBef>
                <a:spcPct val="0"/>
              </a:spcBef>
              <a:spcAft>
                <a:spcPct val="0"/>
              </a:spcAft>
            </a:pPr>
            <a:r>
              <a:rPr lang="en-US" sz="1400" b="1" dirty="0">
                <a:solidFill>
                  <a:schemeClr val="accent1"/>
                </a:solidFill>
                <a:latin typeface="Arial" panose="020B0604020202020204" pitchFamily="34" charset="0"/>
                <a:cs typeface="Arial" panose="020B0604020202020204" pitchFamily="34" charset="0"/>
              </a:rPr>
              <a:t>Loss of Customer Trust</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Review: “Staff was rude and ignored us.”</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Impact: Customer walks out without purchase, chooses a competitor brand.</a:t>
            </a:r>
          </a:p>
        </p:txBody>
      </p:sp>
      <p:sp>
        <p:nvSpPr>
          <p:cNvPr id="38" name="TextBox 37">
            <a:extLst>
              <a:ext uri="{FF2B5EF4-FFF2-40B4-BE49-F238E27FC236}">
                <a16:creationId xmlns:a16="http://schemas.microsoft.com/office/drawing/2014/main" id="{81B8DB42-F973-450B-9197-6ACC8348CDB2}"/>
              </a:ext>
            </a:extLst>
          </p:cNvPr>
          <p:cNvSpPr txBox="1"/>
          <p:nvPr/>
        </p:nvSpPr>
        <p:spPr>
          <a:xfrm>
            <a:off x="205902" y="4018760"/>
            <a:ext cx="5831682" cy="1021883"/>
          </a:xfrm>
          <a:prstGeom prst="rect">
            <a:avLst/>
          </a:prstGeom>
          <a:noFill/>
        </p:spPr>
        <p:txBody>
          <a:bodyPr wrap="square">
            <a:spAutoFit/>
          </a:bodyPr>
          <a:lstStyle/>
          <a:p>
            <a:pPr eaLnBrk="0" fontAlgn="base" hangingPunct="0">
              <a:lnSpc>
                <a:spcPct val="150000"/>
              </a:lnSpc>
              <a:spcBef>
                <a:spcPct val="0"/>
              </a:spcBef>
              <a:spcAft>
                <a:spcPct val="0"/>
              </a:spcAft>
            </a:pPr>
            <a:r>
              <a:rPr lang="en-US" sz="1400" b="1" dirty="0">
                <a:solidFill>
                  <a:schemeClr val="accent1"/>
                </a:solidFill>
                <a:latin typeface="Arial" panose="020B0604020202020204" pitchFamily="34" charset="0"/>
                <a:cs typeface="Arial" panose="020B0604020202020204" pitchFamily="34" charset="0"/>
              </a:rPr>
              <a:t>Direct Sales Loss</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Review: “No one explained the making charges properly.”</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Impact: Customer avoids high-value items, sales person loses benefits.</a:t>
            </a:r>
          </a:p>
        </p:txBody>
      </p:sp>
      <p:sp>
        <p:nvSpPr>
          <p:cNvPr id="40" name="TextBox 39">
            <a:extLst>
              <a:ext uri="{FF2B5EF4-FFF2-40B4-BE49-F238E27FC236}">
                <a16:creationId xmlns:a16="http://schemas.microsoft.com/office/drawing/2014/main" id="{E965993F-3339-4780-8945-6EDC785C61DA}"/>
              </a:ext>
            </a:extLst>
          </p:cNvPr>
          <p:cNvSpPr txBox="1"/>
          <p:nvPr/>
        </p:nvSpPr>
        <p:spPr>
          <a:xfrm>
            <a:off x="264318" y="1919033"/>
            <a:ext cx="6096000" cy="1021883"/>
          </a:xfrm>
          <a:prstGeom prst="rect">
            <a:avLst/>
          </a:prstGeom>
          <a:noFill/>
        </p:spPr>
        <p:txBody>
          <a:bodyPr wrap="square">
            <a:spAutoFit/>
          </a:bodyPr>
          <a:lstStyle/>
          <a:p>
            <a:pPr eaLnBrk="0" fontAlgn="base" hangingPunct="0">
              <a:lnSpc>
                <a:spcPct val="150000"/>
              </a:lnSpc>
              <a:spcBef>
                <a:spcPct val="0"/>
              </a:spcBef>
              <a:spcAft>
                <a:spcPct val="0"/>
              </a:spcAft>
            </a:pPr>
            <a:r>
              <a:rPr lang="en-US" sz="1400" b="1" dirty="0">
                <a:solidFill>
                  <a:schemeClr val="accent1"/>
                </a:solidFill>
                <a:latin typeface="Arial" panose="020B0604020202020204" pitchFamily="34" charset="0"/>
                <a:cs typeface="Arial" panose="020B0604020202020204" pitchFamily="34" charset="0"/>
              </a:rPr>
              <a:t>Damage to Store Reputation</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Review: “Unprofessional service, never coming again.”</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Impact: Other potential customers read it → store loses footfall.</a:t>
            </a:r>
          </a:p>
        </p:txBody>
      </p:sp>
      <p:sp>
        <p:nvSpPr>
          <p:cNvPr id="42" name="TextBox 41">
            <a:extLst>
              <a:ext uri="{FF2B5EF4-FFF2-40B4-BE49-F238E27FC236}">
                <a16:creationId xmlns:a16="http://schemas.microsoft.com/office/drawing/2014/main" id="{1656C792-2B79-4B8E-9A1E-F41B3A2DD96F}"/>
              </a:ext>
            </a:extLst>
          </p:cNvPr>
          <p:cNvSpPr txBox="1"/>
          <p:nvPr/>
        </p:nvSpPr>
        <p:spPr>
          <a:xfrm>
            <a:off x="6154418" y="4072112"/>
            <a:ext cx="6096000" cy="1021883"/>
          </a:xfrm>
          <a:prstGeom prst="rect">
            <a:avLst/>
          </a:prstGeom>
          <a:noFill/>
        </p:spPr>
        <p:txBody>
          <a:bodyPr wrap="square">
            <a:spAutoFit/>
          </a:bodyPr>
          <a:lstStyle/>
          <a:p>
            <a:pPr eaLnBrk="0" fontAlgn="base" hangingPunct="0">
              <a:lnSpc>
                <a:spcPct val="150000"/>
              </a:lnSpc>
              <a:spcBef>
                <a:spcPct val="0"/>
              </a:spcBef>
              <a:spcAft>
                <a:spcPct val="0"/>
              </a:spcAft>
            </a:pPr>
            <a:r>
              <a:rPr lang="en-US" sz="1400" b="1" dirty="0">
                <a:solidFill>
                  <a:schemeClr val="accent1"/>
                </a:solidFill>
                <a:latin typeface="Arial" panose="020B0604020202020204" pitchFamily="34" charset="0"/>
                <a:cs typeface="Arial" panose="020B0604020202020204" pitchFamily="34" charset="0"/>
              </a:rPr>
              <a:t>Confidence in Store’s Reputation</a:t>
            </a:r>
          </a:p>
          <a:p>
            <a:pPr eaLnBrk="0" fontAlgn="base" hangingPunct="0">
              <a:lnSpc>
                <a:spcPct val="150000"/>
              </a:lnSpc>
              <a:spcBef>
                <a:spcPct val="0"/>
              </a:spcBef>
              <a:spcAft>
                <a:spcPct val="0"/>
              </a:spcAft>
              <a:buFont typeface="Arial" panose="020B0604020202020204" pitchFamily="34" charset="0"/>
              <a:buChar char="•"/>
            </a:pPr>
            <a:r>
              <a:rPr lang="en-US" sz="1400" dirty="0">
                <a:latin typeface="Arial" panose="020B0604020202020204" pitchFamily="34" charset="0"/>
                <a:cs typeface="Arial" panose="020B0604020202020204" pitchFamily="34" charset="0"/>
              </a:rPr>
              <a:t>Multiple reviews mention staff friendliness → Store reputation improves → More footfall.</a:t>
            </a:r>
          </a:p>
        </p:txBody>
      </p:sp>
      <p:sp>
        <p:nvSpPr>
          <p:cNvPr id="43" name="TextBox 42">
            <a:extLst>
              <a:ext uri="{FF2B5EF4-FFF2-40B4-BE49-F238E27FC236}">
                <a16:creationId xmlns:a16="http://schemas.microsoft.com/office/drawing/2014/main" id="{3BBF8CC5-5406-46F7-BBA8-0E494BAB3364}"/>
              </a:ext>
            </a:extLst>
          </p:cNvPr>
          <p:cNvSpPr txBox="1"/>
          <p:nvPr/>
        </p:nvSpPr>
        <p:spPr>
          <a:xfrm>
            <a:off x="264318" y="1401375"/>
            <a:ext cx="6096000" cy="456535"/>
          </a:xfrm>
          <a:prstGeom prst="rect">
            <a:avLst/>
          </a:prstGeom>
          <a:noFill/>
        </p:spPr>
        <p:txBody>
          <a:bodyPr wrap="square">
            <a:spAutoFit/>
          </a:bodyPr>
          <a:lstStyle/>
          <a:p>
            <a:pPr eaLnBrk="0" fontAlgn="base" hangingPunct="0">
              <a:lnSpc>
                <a:spcPct val="150000"/>
              </a:lnSpc>
              <a:spcBef>
                <a:spcPct val="0"/>
              </a:spcBef>
              <a:spcAft>
                <a:spcPct val="0"/>
              </a:spcAft>
            </a:pPr>
            <a:r>
              <a:rPr lang="en-US" b="1" dirty="0">
                <a:solidFill>
                  <a:srgbClr val="C00000"/>
                </a:solidFill>
                <a:latin typeface="Arial" panose="020B0604020202020204" pitchFamily="34" charset="0"/>
                <a:cs typeface="Arial" panose="020B0604020202020204" pitchFamily="34" charset="0"/>
              </a:rPr>
              <a:t>Negative Review :</a:t>
            </a:r>
            <a:endParaRPr lang="en-US" sz="2400"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0086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6041-76F6-0F64-FADE-C71DF4810C23}"/>
              </a:ext>
            </a:extLst>
          </p:cNvPr>
          <p:cNvSpPr>
            <a:spLocks noGrp="1"/>
          </p:cNvSpPr>
          <p:nvPr>
            <p:ph type="title"/>
          </p:nvPr>
        </p:nvSpPr>
        <p:spPr>
          <a:xfrm>
            <a:off x="199103" y="168481"/>
            <a:ext cx="10515600" cy="588604"/>
          </a:xfrm>
        </p:spPr>
        <p:txBody>
          <a:bodyPr>
            <a:noAutofit/>
          </a:bodyPr>
          <a:lstStyle/>
          <a:p>
            <a:r>
              <a:rPr lang="en-US" sz="3200" b="1" dirty="0">
                <a:solidFill>
                  <a:srgbClr val="C00000"/>
                </a:solidFill>
                <a:latin typeface="Arial" panose="020B0604020202020204" pitchFamily="34" charset="0"/>
                <a:cs typeface="Arial" panose="020B0604020202020204" pitchFamily="34" charset="0"/>
              </a:rPr>
              <a:t>Were are we FY 2024-2025</a:t>
            </a:r>
            <a:endParaRPr lang="en-IN" sz="3200" b="1" dirty="0">
              <a:solidFill>
                <a:srgbClr val="C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1C09782-F483-8B9F-D8E9-067DF6D1125E}"/>
              </a:ext>
            </a:extLst>
          </p:cNvPr>
          <p:cNvPicPr>
            <a:picLocks noChangeAspect="1"/>
          </p:cNvPicPr>
          <p:nvPr/>
        </p:nvPicPr>
        <p:blipFill>
          <a:blip r:embed="rId2"/>
          <a:stretch>
            <a:fillRect/>
          </a:stretch>
        </p:blipFill>
        <p:spPr>
          <a:xfrm>
            <a:off x="393914" y="757085"/>
            <a:ext cx="10833902" cy="5858894"/>
          </a:xfrm>
          <a:prstGeom prst="rect">
            <a:avLst/>
          </a:prstGeom>
        </p:spPr>
      </p:pic>
      <p:pic>
        <p:nvPicPr>
          <p:cNvPr id="3" name="Picture 2">
            <a:extLst>
              <a:ext uri="{FF2B5EF4-FFF2-40B4-BE49-F238E27FC236}">
                <a16:creationId xmlns:a16="http://schemas.microsoft.com/office/drawing/2014/main" id="{7C03A48E-67FF-3E73-E8A8-BF50C0891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7192" y="168481"/>
            <a:ext cx="897148" cy="897148"/>
          </a:xfrm>
          <a:prstGeom prst="rect">
            <a:avLst/>
          </a:prstGeom>
        </p:spPr>
      </p:pic>
    </p:spTree>
    <p:extLst>
      <p:ext uri="{BB962C8B-B14F-4D97-AF65-F5344CB8AC3E}">
        <p14:creationId xmlns:p14="http://schemas.microsoft.com/office/powerpoint/2010/main" val="45397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CA7B-55E4-8715-99EF-17F9E72B1CB2}"/>
              </a:ext>
            </a:extLst>
          </p:cNvPr>
          <p:cNvSpPr>
            <a:spLocks noGrp="1"/>
          </p:cNvSpPr>
          <p:nvPr>
            <p:ph type="title"/>
          </p:nvPr>
        </p:nvSpPr>
        <p:spPr>
          <a:xfrm>
            <a:off x="179439" y="148815"/>
            <a:ext cx="10515600" cy="706591"/>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Were are we FY 2025 April to July 2025</a:t>
            </a:r>
            <a:endParaRPr lang="en-IN" sz="3200" b="1" dirty="0">
              <a:solidFill>
                <a:srgbClr val="C0000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5D6960A-6456-8B61-BA41-B272FA00790D}"/>
              </a:ext>
            </a:extLst>
          </p:cNvPr>
          <p:cNvPicPr>
            <a:picLocks noChangeAspect="1"/>
          </p:cNvPicPr>
          <p:nvPr/>
        </p:nvPicPr>
        <p:blipFill>
          <a:blip r:embed="rId2"/>
          <a:stretch>
            <a:fillRect/>
          </a:stretch>
        </p:blipFill>
        <p:spPr>
          <a:xfrm>
            <a:off x="569609" y="855406"/>
            <a:ext cx="10334365" cy="5625760"/>
          </a:xfrm>
          <a:prstGeom prst="rect">
            <a:avLst/>
          </a:prstGeom>
        </p:spPr>
      </p:pic>
      <p:pic>
        <p:nvPicPr>
          <p:cNvPr id="3" name="Picture 2">
            <a:extLst>
              <a:ext uri="{FF2B5EF4-FFF2-40B4-BE49-F238E27FC236}">
                <a16:creationId xmlns:a16="http://schemas.microsoft.com/office/drawing/2014/main" id="{FA64AC0B-173E-0E22-F8B3-7306B1E4A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5970" y="223597"/>
            <a:ext cx="706591" cy="706591"/>
          </a:xfrm>
          <a:prstGeom prst="rect">
            <a:avLst/>
          </a:prstGeom>
        </p:spPr>
      </p:pic>
    </p:spTree>
    <p:extLst>
      <p:ext uri="{BB962C8B-B14F-4D97-AF65-F5344CB8AC3E}">
        <p14:creationId xmlns:p14="http://schemas.microsoft.com/office/powerpoint/2010/main" val="121092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3AB5-D302-7A64-8247-B1ED7E344F62}"/>
              </a:ext>
            </a:extLst>
          </p:cNvPr>
          <p:cNvSpPr>
            <a:spLocks noGrp="1"/>
          </p:cNvSpPr>
          <p:nvPr>
            <p:ph type="title"/>
          </p:nvPr>
        </p:nvSpPr>
        <p:spPr>
          <a:xfrm>
            <a:off x="290284" y="539064"/>
            <a:ext cx="6784571" cy="707217"/>
          </a:xfrm>
        </p:spPr>
        <p:txBody>
          <a:bodyPr>
            <a:noAutofit/>
          </a:bodyPr>
          <a:lstStyle/>
          <a:p>
            <a:r>
              <a:rPr lang="en-US" sz="3200" b="1" dirty="0">
                <a:solidFill>
                  <a:srgbClr val="C00000"/>
                </a:solidFill>
                <a:latin typeface="Arial" panose="020B0604020202020204" pitchFamily="34" charset="0"/>
                <a:cs typeface="Arial" panose="020B0604020202020204" pitchFamily="34" charset="0"/>
              </a:rPr>
              <a:t>The Power of Your Reputation</a:t>
            </a:r>
            <a:endParaRPr lang="en-IN" sz="3200" b="1"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DA70541-09E5-D344-BDFD-68745D35E7BC}"/>
              </a:ext>
            </a:extLst>
          </p:cNvPr>
          <p:cNvSpPr>
            <a:spLocks noGrp="1"/>
          </p:cNvSpPr>
          <p:nvPr>
            <p:ph idx="1"/>
          </p:nvPr>
        </p:nvSpPr>
        <p:spPr>
          <a:xfrm>
            <a:off x="504313" y="1787245"/>
            <a:ext cx="11049000" cy="4351338"/>
          </a:xfrm>
        </p:spPr>
        <p:txBody>
          <a:bodyPr>
            <a:normAutofit/>
          </a:bodyPr>
          <a:lstStyle/>
          <a:p>
            <a:pPr marL="0" indent="0">
              <a:lnSpc>
                <a:spcPct val="150000"/>
              </a:lnSpc>
              <a:buNone/>
            </a:pPr>
            <a:r>
              <a:rPr lang="en-US" sz="1800" b="1" dirty="0">
                <a:solidFill>
                  <a:srgbClr val="C00000"/>
                </a:solidFill>
                <a:latin typeface="Arial" panose="020B0604020202020204" pitchFamily="34" charset="0"/>
                <a:cs typeface="Arial" panose="020B0604020202020204" pitchFamily="34" charset="0"/>
              </a:rPr>
              <a:t>Key Message:</a:t>
            </a:r>
            <a:r>
              <a:rPr lang="en-US" sz="1800" dirty="0">
                <a:solidFill>
                  <a:srgbClr val="C0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Your personal service is what makes us special. Google reviews are the most important way to measure that success and help new customers find us. They are a direct reflection of the exceptional experience you provide every day.</a:t>
            </a:r>
          </a:p>
          <a:p>
            <a:pPr marL="0" indent="0">
              <a:lnSpc>
                <a:spcPct val="150000"/>
              </a:lnSpc>
              <a:buNone/>
            </a:pPr>
            <a:endParaRPr lang="en-US" sz="1800" dirty="0">
              <a:latin typeface="Arial" panose="020B0604020202020204" pitchFamily="34" charset="0"/>
              <a:cs typeface="Arial" panose="020B0604020202020204" pitchFamily="34" charset="0"/>
            </a:endParaRPr>
          </a:p>
          <a:p>
            <a:endParaRPr lang="en-US" sz="2400" dirty="0"/>
          </a:p>
          <a:p>
            <a:pPr marL="0" indent="0">
              <a:lnSpc>
                <a:spcPct val="150000"/>
              </a:lnSpc>
              <a:buNone/>
            </a:pPr>
            <a:r>
              <a:rPr lang="en-US" sz="1600" b="1" dirty="0">
                <a:solidFill>
                  <a:srgbClr val="C00000"/>
                </a:solidFill>
              </a:rPr>
              <a:t> </a:t>
            </a:r>
            <a:r>
              <a:rPr lang="ta-IN" sz="1600" b="1" dirty="0">
                <a:solidFill>
                  <a:srgbClr val="C00000"/>
                </a:solidFill>
              </a:rPr>
              <a:t>முக்கியமான செய்தி:</a:t>
            </a:r>
            <a:r>
              <a:rPr lang="ta-IN" sz="1600" dirty="0">
                <a:solidFill>
                  <a:srgbClr val="C00000"/>
                </a:solidFill>
              </a:rPr>
              <a:t> </a:t>
            </a:r>
            <a:r>
              <a:rPr lang="ta-IN" sz="1600" dirty="0"/>
              <a:t>உங்களின் தனிப்பட்ட சேவைதான் நம்மை ஸ்பெஷலாக்குது</a:t>
            </a:r>
            <a:r>
              <a:rPr lang="en-US" sz="1600" dirty="0"/>
              <a:t>, </a:t>
            </a:r>
            <a:r>
              <a:rPr lang="ta-IN" sz="1600" dirty="0"/>
              <a:t>கூகிள் ரிவ்யூஸ்தான் அந்த வெற்றியை அளக்க முக்கியமான வழி</a:t>
            </a:r>
            <a:r>
              <a:rPr lang="en-US" sz="1600" dirty="0"/>
              <a:t> , </a:t>
            </a:r>
            <a:r>
              <a:rPr lang="ta-IN" sz="1600" dirty="0"/>
              <a:t>புதிய கஸ்டமர்கள் நம்மை கண்டுபிடிக்கவும் அது உதவும். நீங்க தினமும் கொடுக்குற சிறந்த அனுபவம்தான் இந்த ரிவ்யூஸ்ல பிரதிபலிக்கும்</a:t>
            </a:r>
            <a:r>
              <a:rPr lang="ta-IN" sz="1800" dirty="0"/>
              <a:t>.</a:t>
            </a:r>
            <a:endParaRPr lang="en-IN" sz="1800" dirty="0"/>
          </a:p>
        </p:txBody>
      </p:sp>
      <p:pic>
        <p:nvPicPr>
          <p:cNvPr id="6" name="Picture 5">
            <a:extLst>
              <a:ext uri="{FF2B5EF4-FFF2-40B4-BE49-F238E27FC236}">
                <a16:creationId xmlns:a16="http://schemas.microsoft.com/office/drawing/2014/main" id="{F26BC5DC-80F0-2EE4-ACC0-46B5876D2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2618" y="244307"/>
            <a:ext cx="828035" cy="828035"/>
          </a:xfrm>
          <a:prstGeom prst="rect">
            <a:avLst/>
          </a:prstGeom>
        </p:spPr>
      </p:pic>
      <p:grpSp>
        <p:nvGrpSpPr>
          <p:cNvPr id="17" name="Group 16">
            <a:extLst>
              <a:ext uri="{FF2B5EF4-FFF2-40B4-BE49-F238E27FC236}">
                <a16:creationId xmlns:a16="http://schemas.microsoft.com/office/drawing/2014/main" id="{CEC890E5-7415-A605-1E62-2BBC515AA831}"/>
              </a:ext>
            </a:extLst>
          </p:cNvPr>
          <p:cNvGrpSpPr/>
          <p:nvPr/>
        </p:nvGrpSpPr>
        <p:grpSpPr>
          <a:xfrm>
            <a:off x="423461" y="3525507"/>
            <a:ext cx="11264226" cy="53122"/>
            <a:chOff x="0" y="700556"/>
            <a:chExt cx="8128000" cy="1198080"/>
          </a:xfrm>
          <a:solidFill>
            <a:schemeClr val="accent4">
              <a:lumMod val="60000"/>
              <a:lumOff val="40000"/>
            </a:schemeClr>
          </a:solidFill>
        </p:grpSpPr>
        <p:sp>
          <p:nvSpPr>
            <p:cNvPr id="18" name="Rectangle: Rounded Corners 17">
              <a:extLst>
                <a:ext uri="{FF2B5EF4-FFF2-40B4-BE49-F238E27FC236}">
                  <a16:creationId xmlns:a16="http://schemas.microsoft.com/office/drawing/2014/main" id="{C83CCCE0-4EB7-77BC-7D61-761C74EBC2B1}"/>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ectangle: Rounded Corners 4">
              <a:extLst>
                <a:ext uri="{FF2B5EF4-FFF2-40B4-BE49-F238E27FC236}">
                  <a16:creationId xmlns:a16="http://schemas.microsoft.com/office/drawing/2014/main" id="{B3E47A41-653C-21B4-965C-C2585A0AFE93}"/>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20" name="Picture 19">
            <a:extLst>
              <a:ext uri="{FF2B5EF4-FFF2-40B4-BE49-F238E27FC236}">
                <a16:creationId xmlns:a16="http://schemas.microsoft.com/office/drawing/2014/main" id="{C925526F-5296-4555-ABC4-191E05F09898}"/>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1436206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DB406-5160-A9AE-62E8-6CD66D1FE217}"/>
              </a:ext>
            </a:extLst>
          </p:cNvPr>
          <p:cNvSpPr>
            <a:spLocks noGrp="1"/>
          </p:cNvSpPr>
          <p:nvPr>
            <p:ph type="title"/>
          </p:nvPr>
        </p:nvSpPr>
        <p:spPr>
          <a:xfrm>
            <a:off x="439690" y="412476"/>
            <a:ext cx="10515600" cy="734385"/>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Turning Happy Customers into Advocates</a:t>
            </a:r>
            <a:endParaRPr lang="en-IN" sz="3200" b="1"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8204604-DFF0-3754-C33E-BABC6CF50C33}"/>
              </a:ext>
            </a:extLst>
          </p:cNvPr>
          <p:cNvSpPr>
            <a:spLocks noGrp="1"/>
          </p:cNvSpPr>
          <p:nvPr>
            <p:ph idx="1"/>
          </p:nvPr>
        </p:nvSpPr>
        <p:spPr>
          <a:xfrm>
            <a:off x="613403" y="1759809"/>
            <a:ext cx="11039429" cy="4351338"/>
          </a:xfrm>
        </p:spPr>
        <p:txBody>
          <a:bodyPr>
            <a:normAutofit/>
          </a:bodyPr>
          <a:lstStyle/>
          <a:p>
            <a:pPr marL="0" indent="0">
              <a:lnSpc>
                <a:spcPct val="150000"/>
              </a:lnSpc>
              <a:buNone/>
            </a:pPr>
            <a:r>
              <a:rPr lang="en-IN" sz="1800" b="1" dirty="0">
                <a:solidFill>
                  <a:srgbClr val="C00000"/>
                </a:solidFill>
                <a:latin typeface="Arial" panose="020B0604020202020204" pitchFamily="34" charset="0"/>
                <a:cs typeface="Arial" panose="020B0604020202020204" pitchFamily="34" charset="0"/>
              </a:rPr>
              <a:t>The Golden Rule </a:t>
            </a:r>
            <a:r>
              <a:rPr lang="en-IN" sz="1800" dirty="0">
                <a:solidFill>
                  <a:srgbClr val="C0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best time to ask for a review is at the peak of a customer's happiness. When they are delighted with their purchase or service, that's when their feedback is most genuine &amp; impactful</a:t>
            </a:r>
            <a:r>
              <a:rPr lang="en-US" sz="1800" dirty="0"/>
              <a:t>.</a:t>
            </a:r>
          </a:p>
          <a:p>
            <a:pPr>
              <a:lnSpc>
                <a:spcPct val="150000"/>
              </a:lnSpc>
            </a:pPr>
            <a:endParaRPr lang="en-US" sz="1800" dirty="0"/>
          </a:p>
          <a:p>
            <a:pPr>
              <a:lnSpc>
                <a:spcPct val="150000"/>
              </a:lnSpc>
            </a:pPr>
            <a:endParaRPr lang="en-US" sz="1800" dirty="0"/>
          </a:p>
          <a:p>
            <a:pPr marL="0" indent="0">
              <a:lnSpc>
                <a:spcPct val="150000"/>
              </a:lnSpc>
              <a:buNone/>
            </a:pPr>
            <a:r>
              <a:rPr lang="ta-IN" sz="1600" dirty="0"/>
              <a:t>ஒரு கஸ்டமர் ரொம்ப சந்தோஷமா இருக்கும்போது, அப்போதான் அவர்களிடம் ரிவ்யூ கேட்க சிறந்த நேரம்</a:t>
            </a:r>
            <a:r>
              <a:rPr lang="en-US" sz="1600" dirty="0"/>
              <a:t> , </a:t>
            </a:r>
            <a:r>
              <a:rPr lang="ta-IN" sz="1600" dirty="0"/>
              <a:t>அவர்கள் உங்கள் சேவை அல்லது வாங்கிய பொருளால் ரொம்ப சந்தோஷமா இருந்தா, அப்போதான் அவர்களின் கருத்து உண்மை மற்றும் மதிப்புள்ளதா இருக்கும்.</a:t>
            </a:r>
            <a:endParaRPr lang="en-IN" sz="1600" dirty="0"/>
          </a:p>
        </p:txBody>
      </p:sp>
      <p:pic>
        <p:nvPicPr>
          <p:cNvPr id="6" name="Picture 5">
            <a:extLst>
              <a:ext uri="{FF2B5EF4-FFF2-40B4-BE49-F238E27FC236}">
                <a16:creationId xmlns:a16="http://schemas.microsoft.com/office/drawing/2014/main" id="{BEE1E152-6718-DE89-F494-F5D468B29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799" y="190559"/>
            <a:ext cx="696066" cy="696066"/>
          </a:xfrm>
          <a:prstGeom prst="rect">
            <a:avLst/>
          </a:prstGeom>
        </p:spPr>
      </p:pic>
      <p:grpSp>
        <p:nvGrpSpPr>
          <p:cNvPr id="15" name="Group 14">
            <a:extLst>
              <a:ext uri="{FF2B5EF4-FFF2-40B4-BE49-F238E27FC236}">
                <a16:creationId xmlns:a16="http://schemas.microsoft.com/office/drawing/2014/main" id="{2D62EA29-8026-271F-0712-E6E8A3F0DB2D}"/>
              </a:ext>
            </a:extLst>
          </p:cNvPr>
          <p:cNvGrpSpPr/>
          <p:nvPr/>
        </p:nvGrpSpPr>
        <p:grpSpPr>
          <a:xfrm>
            <a:off x="613403" y="3559608"/>
            <a:ext cx="11264226" cy="53122"/>
            <a:chOff x="0" y="700556"/>
            <a:chExt cx="8128000" cy="1198080"/>
          </a:xfrm>
          <a:solidFill>
            <a:schemeClr val="accent4">
              <a:lumMod val="60000"/>
              <a:lumOff val="40000"/>
            </a:schemeClr>
          </a:solidFill>
        </p:grpSpPr>
        <p:sp>
          <p:nvSpPr>
            <p:cNvPr id="16" name="Rectangle: Rounded Corners 15">
              <a:extLst>
                <a:ext uri="{FF2B5EF4-FFF2-40B4-BE49-F238E27FC236}">
                  <a16:creationId xmlns:a16="http://schemas.microsoft.com/office/drawing/2014/main" id="{5C12221F-39F2-9323-FFF4-35E8843707DA}"/>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Rectangle: Rounded Corners 4">
              <a:extLst>
                <a:ext uri="{FF2B5EF4-FFF2-40B4-BE49-F238E27FC236}">
                  <a16:creationId xmlns:a16="http://schemas.microsoft.com/office/drawing/2014/main" id="{D3DF6D91-1973-EA14-BE8E-92E67F0189BF}"/>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18" name="Picture 17">
            <a:extLst>
              <a:ext uri="{FF2B5EF4-FFF2-40B4-BE49-F238E27FC236}">
                <a16:creationId xmlns:a16="http://schemas.microsoft.com/office/drawing/2014/main" id="{FB0681CE-311B-4E07-9855-5F3B88C5D58D}"/>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3808000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1920" y="442550"/>
            <a:ext cx="3953868" cy="306288"/>
          </a:xfrm>
          <a:prstGeom prst="rect">
            <a:avLst/>
          </a:prstGeom>
          <a:noFill/>
          <a:ln/>
        </p:spPr>
        <p:txBody>
          <a:bodyPr wrap="none" lIns="0" tIns="0" rIns="0" bIns="0" rtlCol="0" anchor="t"/>
          <a:lstStyle/>
          <a:p>
            <a:pPr>
              <a:lnSpc>
                <a:spcPct val="90000"/>
              </a:lnSpc>
              <a:spcBef>
                <a:spcPct val="0"/>
              </a:spcBef>
            </a:pPr>
            <a:r>
              <a:rPr lang="en-US" sz="3200" b="1" dirty="0">
                <a:solidFill>
                  <a:srgbClr val="C00000"/>
                </a:solidFill>
                <a:latin typeface="Arial" panose="020B0604020202020204" pitchFamily="34" charset="0"/>
                <a:ea typeface="+mj-ea"/>
                <a:cs typeface="Arial" panose="020B0604020202020204" pitchFamily="34" charset="0"/>
              </a:rPr>
              <a:t>When and How to Ask for Reviews</a:t>
            </a:r>
          </a:p>
        </p:txBody>
      </p:sp>
      <p:sp>
        <p:nvSpPr>
          <p:cNvPr id="3" name="Shape 1"/>
          <p:cNvSpPr/>
          <p:nvPr/>
        </p:nvSpPr>
        <p:spPr>
          <a:xfrm>
            <a:off x="231920" y="1007228"/>
            <a:ext cx="130175" cy="781050"/>
          </a:xfrm>
          <a:prstGeom prst="roundRect">
            <a:avLst>
              <a:gd name="adj" fmla="val 42004"/>
            </a:avLst>
          </a:prstGeom>
          <a:solidFill>
            <a:srgbClr val="FAF5EB"/>
          </a:solidFill>
          <a:ln w="7620">
            <a:solidFill>
              <a:srgbClr val="3371A5"/>
            </a:solidFill>
            <a:prstDash val="solid"/>
          </a:ln>
        </p:spPr>
      </p:sp>
      <p:sp>
        <p:nvSpPr>
          <p:cNvPr id="4" name="Text 2"/>
          <p:cNvSpPr/>
          <p:nvPr/>
        </p:nvSpPr>
        <p:spPr>
          <a:xfrm>
            <a:off x="492270" y="1137403"/>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Build Rapport</a:t>
            </a:r>
            <a:endParaRPr lang="en-US" sz="2000" b="1" dirty="0">
              <a:solidFill>
                <a:schemeClr val="accent1"/>
              </a:solidFill>
              <a:latin typeface="Arial" panose="020B0604020202020204" pitchFamily="34" charset="0"/>
              <a:cs typeface="Arial" panose="020B0604020202020204" pitchFamily="34" charset="0"/>
            </a:endParaRPr>
          </a:p>
        </p:txBody>
      </p:sp>
      <p:sp>
        <p:nvSpPr>
          <p:cNvPr id="5" name="Text 3"/>
          <p:cNvSpPr/>
          <p:nvPr/>
        </p:nvSpPr>
        <p:spPr>
          <a:xfrm>
            <a:off x="492271" y="1406980"/>
            <a:ext cx="10542984"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Greet customer and build rapport during the purchase.</a:t>
            </a:r>
            <a:endParaRPr lang="en-US" sz="1400" dirty="0">
              <a:latin typeface="Arial" panose="020B0604020202020204" pitchFamily="34" charset="0"/>
              <a:cs typeface="Arial" panose="020B0604020202020204" pitchFamily="34" charset="0"/>
            </a:endParaRPr>
          </a:p>
        </p:txBody>
      </p:sp>
      <p:sp>
        <p:nvSpPr>
          <p:cNvPr id="6" name="Shape 4"/>
          <p:cNvSpPr/>
          <p:nvPr/>
        </p:nvSpPr>
        <p:spPr>
          <a:xfrm>
            <a:off x="427183" y="1918453"/>
            <a:ext cx="130175" cy="781050"/>
          </a:xfrm>
          <a:prstGeom prst="roundRect">
            <a:avLst>
              <a:gd name="adj" fmla="val 42004"/>
            </a:avLst>
          </a:prstGeom>
          <a:solidFill>
            <a:srgbClr val="FAF5EB"/>
          </a:solidFill>
          <a:ln w="7620">
            <a:solidFill>
              <a:srgbClr val="3371A5"/>
            </a:solidFill>
            <a:prstDash val="solid"/>
          </a:ln>
        </p:spPr>
      </p:sp>
      <p:sp>
        <p:nvSpPr>
          <p:cNvPr id="7" name="Text 5"/>
          <p:cNvSpPr/>
          <p:nvPr/>
        </p:nvSpPr>
        <p:spPr>
          <a:xfrm>
            <a:off x="687533" y="2048628"/>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Explain Importance</a:t>
            </a:r>
            <a:endParaRPr lang="en-US" sz="2000" b="1" dirty="0">
              <a:solidFill>
                <a:schemeClr val="accent1"/>
              </a:solidFill>
              <a:latin typeface="Arial" panose="020B0604020202020204" pitchFamily="34" charset="0"/>
              <a:cs typeface="Arial" panose="020B0604020202020204" pitchFamily="34" charset="0"/>
            </a:endParaRPr>
          </a:p>
        </p:txBody>
      </p:sp>
      <p:sp>
        <p:nvSpPr>
          <p:cNvPr id="8" name="Text 6"/>
          <p:cNvSpPr/>
          <p:nvPr/>
        </p:nvSpPr>
        <p:spPr>
          <a:xfrm>
            <a:off x="687532" y="2318205"/>
            <a:ext cx="10347722"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Mention the importance of their feedback for the showroom.</a:t>
            </a:r>
            <a:endParaRPr lang="en-US" sz="1400" dirty="0">
              <a:latin typeface="Arial" panose="020B0604020202020204" pitchFamily="34" charset="0"/>
              <a:cs typeface="Arial" panose="020B0604020202020204" pitchFamily="34" charset="0"/>
            </a:endParaRPr>
          </a:p>
        </p:txBody>
      </p:sp>
      <p:sp>
        <p:nvSpPr>
          <p:cNvPr id="9" name="Shape 7"/>
          <p:cNvSpPr/>
          <p:nvPr/>
        </p:nvSpPr>
        <p:spPr>
          <a:xfrm>
            <a:off x="622445" y="2829678"/>
            <a:ext cx="130175" cy="781050"/>
          </a:xfrm>
          <a:prstGeom prst="roundRect">
            <a:avLst>
              <a:gd name="adj" fmla="val 42004"/>
            </a:avLst>
          </a:prstGeom>
          <a:solidFill>
            <a:srgbClr val="FAF5EB"/>
          </a:solidFill>
          <a:ln w="7620">
            <a:solidFill>
              <a:srgbClr val="3371A5"/>
            </a:solidFill>
            <a:prstDash val="solid"/>
          </a:ln>
        </p:spPr>
      </p:sp>
      <p:sp>
        <p:nvSpPr>
          <p:cNvPr id="10" name="Text 8"/>
          <p:cNvSpPr/>
          <p:nvPr/>
        </p:nvSpPr>
        <p:spPr>
          <a:xfrm>
            <a:off x="882795" y="2959853"/>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Perfect Timing</a:t>
            </a:r>
            <a:endParaRPr lang="en-US" sz="2000" b="1" dirty="0">
              <a:solidFill>
                <a:schemeClr val="accent1"/>
              </a:solidFill>
              <a:latin typeface="Arial" panose="020B0604020202020204" pitchFamily="34" charset="0"/>
              <a:cs typeface="Arial" panose="020B0604020202020204" pitchFamily="34" charset="0"/>
            </a:endParaRPr>
          </a:p>
        </p:txBody>
      </p:sp>
      <p:sp>
        <p:nvSpPr>
          <p:cNvPr id="11" name="Text 9"/>
          <p:cNvSpPr/>
          <p:nvPr/>
        </p:nvSpPr>
        <p:spPr>
          <a:xfrm>
            <a:off x="882796" y="3229430"/>
            <a:ext cx="10152459"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Best time: Immediately after a purchase or positive interaction.</a:t>
            </a:r>
            <a:endParaRPr lang="en-US" sz="1400" dirty="0">
              <a:latin typeface="Arial" panose="020B0604020202020204" pitchFamily="34" charset="0"/>
              <a:cs typeface="Arial" panose="020B0604020202020204" pitchFamily="34" charset="0"/>
            </a:endParaRPr>
          </a:p>
        </p:txBody>
      </p:sp>
      <p:sp>
        <p:nvSpPr>
          <p:cNvPr id="12" name="Shape 10"/>
          <p:cNvSpPr/>
          <p:nvPr/>
        </p:nvSpPr>
        <p:spPr>
          <a:xfrm>
            <a:off x="817708" y="3740903"/>
            <a:ext cx="130175" cy="781050"/>
          </a:xfrm>
          <a:prstGeom prst="roundRect">
            <a:avLst>
              <a:gd name="adj" fmla="val 42004"/>
            </a:avLst>
          </a:prstGeom>
          <a:solidFill>
            <a:srgbClr val="FAF5EB"/>
          </a:solidFill>
          <a:ln w="7620">
            <a:solidFill>
              <a:srgbClr val="3371A5"/>
            </a:solidFill>
            <a:prstDash val="solid"/>
          </a:ln>
        </p:spPr>
      </p:sp>
      <p:sp>
        <p:nvSpPr>
          <p:cNvPr id="13" name="Text 11"/>
          <p:cNvSpPr/>
          <p:nvPr/>
        </p:nvSpPr>
        <p:spPr>
          <a:xfrm>
            <a:off x="1078058" y="3871078"/>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Polite Approach</a:t>
            </a:r>
            <a:endParaRPr lang="en-US" sz="2000" b="1" dirty="0">
              <a:solidFill>
                <a:schemeClr val="accent1"/>
              </a:solidFill>
              <a:latin typeface="Arial" panose="020B0604020202020204" pitchFamily="34" charset="0"/>
              <a:cs typeface="Arial" panose="020B0604020202020204" pitchFamily="34" charset="0"/>
            </a:endParaRPr>
          </a:p>
        </p:txBody>
      </p:sp>
      <p:sp>
        <p:nvSpPr>
          <p:cNvPr id="14" name="Text 12"/>
          <p:cNvSpPr/>
          <p:nvPr/>
        </p:nvSpPr>
        <p:spPr>
          <a:xfrm>
            <a:off x="1078057" y="4172987"/>
            <a:ext cx="9957197"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Approach customers politely and explain that their feedback helps improve service.</a:t>
            </a:r>
            <a:endParaRPr lang="en-US" sz="1400" dirty="0">
              <a:latin typeface="Arial" panose="020B0604020202020204" pitchFamily="34" charset="0"/>
              <a:cs typeface="Arial" panose="020B0604020202020204" pitchFamily="34" charset="0"/>
            </a:endParaRPr>
          </a:p>
        </p:txBody>
      </p:sp>
      <p:sp>
        <p:nvSpPr>
          <p:cNvPr id="15" name="Shape 13"/>
          <p:cNvSpPr/>
          <p:nvPr/>
        </p:nvSpPr>
        <p:spPr>
          <a:xfrm>
            <a:off x="622445" y="4652128"/>
            <a:ext cx="130175" cy="781050"/>
          </a:xfrm>
          <a:prstGeom prst="roundRect">
            <a:avLst>
              <a:gd name="adj" fmla="val 42004"/>
            </a:avLst>
          </a:prstGeom>
          <a:solidFill>
            <a:srgbClr val="FAF5EB"/>
          </a:solidFill>
          <a:ln w="7620">
            <a:solidFill>
              <a:srgbClr val="3371A5"/>
            </a:solidFill>
            <a:prstDash val="solid"/>
          </a:ln>
        </p:spPr>
      </p:sp>
      <p:sp>
        <p:nvSpPr>
          <p:cNvPr id="16" name="Text 14"/>
          <p:cNvSpPr/>
          <p:nvPr/>
        </p:nvSpPr>
        <p:spPr>
          <a:xfrm>
            <a:off x="882795" y="4782303"/>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Provide Instructions</a:t>
            </a:r>
            <a:endParaRPr lang="en-US" sz="2000" b="1" dirty="0">
              <a:solidFill>
                <a:schemeClr val="accent1"/>
              </a:solidFill>
              <a:latin typeface="Arial" panose="020B0604020202020204" pitchFamily="34" charset="0"/>
              <a:cs typeface="Arial" panose="020B0604020202020204" pitchFamily="34" charset="0"/>
            </a:endParaRPr>
          </a:p>
        </p:txBody>
      </p:sp>
      <p:sp>
        <p:nvSpPr>
          <p:cNvPr id="17" name="Text 15"/>
          <p:cNvSpPr/>
          <p:nvPr/>
        </p:nvSpPr>
        <p:spPr>
          <a:xfrm>
            <a:off x="882796" y="5051880"/>
            <a:ext cx="10152459"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Provide simple instructions or a direct link/QR code to the Google review page.</a:t>
            </a:r>
            <a:endParaRPr lang="en-US" sz="1400" dirty="0">
              <a:latin typeface="Arial" panose="020B0604020202020204" pitchFamily="34" charset="0"/>
              <a:cs typeface="Arial" panose="020B0604020202020204" pitchFamily="34" charset="0"/>
            </a:endParaRPr>
          </a:p>
        </p:txBody>
      </p:sp>
      <p:sp>
        <p:nvSpPr>
          <p:cNvPr id="18" name="Shape 16"/>
          <p:cNvSpPr/>
          <p:nvPr/>
        </p:nvSpPr>
        <p:spPr>
          <a:xfrm>
            <a:off x="427183" y="5563353"/>
            <a:ext cx="130175" cy="781050"/>
          </a:xfrm>
          <a:prstGeom prst="roundRect">
            <a:avLst>
              <a:gd name="adj" fmla="val 42004"/>
            </a:avLst>
          </a:prstGeom>
          <a:solidFill>
            <a:srgbClr val="FAF5EB"/>
          </a:solidFill>
          <a:ln w="7620">
            <a:solidFill>
              <a:srgbClr val="3371A5"/>
            </a:solidFill>
            <a:prstDash val="solid"/>
          </a:ln>
        </p:spPr>
      </p:sp>
      <p:sp>
        <p:nvSpPr>
          <p:cNvPr id="19" name="Text 17"/>
          <p:cNvSpPr/>
          <p:nvPr/>
        </p:nvSpPr>
        <p:spPr>
          <a:xfrm>
            <a:off x="687533" y="5693528"/>
            <a:ext cx="1531541" cy="191493"/>
          </a:xfrm>
          <a:prstGeom prst="rect">
            <a:avLst/>
          </a:prstGeom>
          <a:noFill/>
          <a:ln/>
        </p:spPr>
        <p:txBody>
          <a:bodyPr wrap="none" lIns="0" tIns="0" rIns="0" bIns="0" rtlCol="0" anchor="t"/>
          <a:lstStyle/>
          <a:p>
            <a:pPr>
              <a:lnSpc>
                <a:spcPts val="1500"/>
              </a:lnSpc>
            </a:pPr>
            <a:r>
              <a:rPr lang="en-US" sz="2000" b="1" dirty="0">
                <a:solidFill>
                  <a:schemeClr val="accent1"/>
                </a:solidFill>
                <a:latin typeface="Arial" panose="020B0604020202020204" pitchFamily="34" charset="0"/>
                <a:ea typeface="Funnel Display" pitchFamily="34" charset="-122"/>
                <a:cs typeface="Arial" panose="020B0604020202020204" pitchFamily="34" charset="0"/>
              </a:rPr>
              <a:t>Express Gratitude</a:t>
            </a:r>
            <a:endParaRPr lang="en-US" sz="2000" b="1" dirty="0">
              <a:solidFill>
                <a:schemeClr val="accent1"/>
              </a:solidFill>
              <a:latin typeface="Arial" panose="020B0604020202020204" pitchFamily="34" charset="0"/>
              <a:cs typeface="Arial" panose="020B0604020202020204" pitchFamily="34" charset="0"/>
            </a:endParaRPr>
          </a:p>
        </p:txBody>
      </p:sp>
      <p:sp>
        <p:nvSpPr>
          <p:cNvPr id="20" name="Text 18"/>
          <p:cNvSpPr/>
          <p:nvPr/>
        </p:nvSpPr>
        <p:spPr>
          <a:xfrm>
            <a:off x="742009" y="5979872"/>
            <a:ext cx="10347722" cy="208260"/>
          </a:xfrm>
          <a:prstGeom prst="rect">
            <a:avLst/>
          </a:prstGeom>
          <a:noFill/>
          <a:ln/>
        </p:spPr>
        <p:txBody>
          <a:bodyPr wrap="none" lIns="0" tIns="0" rIns="0" bIns="0" rtlCol="0" anchor="t"/>
          <a:lstStyle/>
          <a:p>
            <a:pPr>
              <a:lnSpc>
                <a:spcPts val="1625"/>
              </a:lnSpc>
            </a:pPr>
            <a:r>
              <a:rPr lang="en-US" sz="1400" dirty="0">
                <a:solidFill>
                  <a:srgbClr val="2B3541"/>
                </a:solidFill>
                <a:latin typeface="Arial" panose="020B0604020202020204" pitchFamily="34" charset="0"/>
                <a:ea typeface="Funnel Sans" pitchFamily="34" charset="-122"/>
                <a:cs typeface="Arial" panose="020B0604020202020204" pitchFamily="34" charset="0"/>
              </a:rPr>
              <a:t>Thank the customer sincerely for their time and feedback.</a:t>
            </a:r>
            <a:endParaRPr lang="en-US" sz="1400" dirty="0">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9112C09B-31BA-4810-8311-8BE6C2EA6A0F}"/>
              </a:ext>
            </a:extLst>
          </p:cNvPr>
          <p:cNvPicPr>
            <a:picLocks noChangeAspect="1"/>
          </p:cNvPicPr>
          <p:nvPr/>
        </p:nvPicPr>
        <p:blipFill>
          <a:blip r:embed="rId3"/>
          <a:stretch>
            <a:fillRect/>
          </a:stretch>
        </p:blipFill>
        <p:spPr>
          <a:xfrm>
            <a:off x="3464626" y="6371273"/>
            <a:ext cx="5028323" cy="478414"/>
          </a:xfrm>
          <a:prstGeom prst="rect">
            <a:avLst/>
          </a:prstGeom>
        </p:spPr>
      </p:pic>
      <p:pic>
        <p:nvPicPr>
          <p:cNvPr id="28" name="Picture 27">
            <a:extLst>
              <a:ext uri="{FF2B5EF4-FFF2-40B4-BE49-F238E27FC236}">
                <a16:creationId xmlns:a16="http://schemas.microsoft.com/office/drawing/2014/main" id="{488AB3F7-D0FF-40FC-984A-F8CAD0D460B6}"/>
              </a:ext>
            </a:extLst>
          </p:cNvPr>
          <p:cNvPicPr>
            <a:picLocks noChangeAspect="1"/>
          </p:cNvPicPr>
          <p:nvPr/>
        </p:nvPicPr>
        <p:blipFill>
          <a:blip r:embed="rId4"/>
          <a:stretch>
            <a:fillRect/>
          </a:stretch>
        </p:blipFill>
        <p:spPr>
          <a:xfrm>
            <a:off x="8291483" y="2326835"/>
            <a:ext cx="3706264" cy="20856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1000"/>
                                        <p:tgtEl>
                                          <p:spTgt spid="14"/>
                                        </p:tgtEl>
                                      </p:cBhvr>
                                    </p:animEffect>
                                    <p:anim calcmode="lin" valueType="num">
                                      <p:cBhvr>
                                        <p:cTn id="49" dur="1000" fill="hold"/>
                                        <p:tgtEl>
                                          <p:spTgt spid="14"/>
                                        </p:tgtEl>
                                        <p:attrNameLst>
                                          <p:attrName>ppt_x</p:attrName>
                                        </p:attrNameLst>
                                      </p:cBhvr>
                                      <p:tavLst>
                                        <p:tav tm="0">
                                          <p:val>
                                            <p:strVal val="#ppt_x"/>
                                          </p:val>
                                        </p:tav>
                                        <p:tav tm="100000">
                                          <p:val>
                                            <p:strVal val="#ppt_x"/>
                                          </p:val>
                                        </p:tav>
                                      </p:tavLst>
                                    </p:anim>
                                    <p:anim calcmode="lin" valueType="num">
                                      <p:cBhvr>
                                        <p:cTn id="5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7"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1000"/>
                                        <p:tgtEl>
                                          <p:spTgt spid="17"/>
                                        </p:tgtEl>
                                      </p:cBhvr>
                                    </p:animEffect>
                                    <p:anim calcmode="lin" valueType="num">
                                      <p:cBhvr>
                                        <p:cTn id="61" dur="1000" fill="hold"/>
                                        <p:tgtEl>
                                          <p:spTgt spid="17"/>
                                        </p:tgtEl>
                                        <p:attrNameLst>
                                          <p:attrName>ppt_x</p:attrName>
                                        </p:attrNameLst>
                                      </p:cBhvr>
                                      <p:tavLst>
                                        <p:tav tm="0">
                                          <p:val>
                                            <p:strVal val="#ppt_x"/>
                                          </p:val>
                                        </p:tav>
                                        <p:tav tm="100000">
                                          <p:val>
                                            <p:strVal val="#ppt_x"/>
                                          </p:val>
                                        </p:tav>
                                      </p:tavLst>
                                    </p:anim>
                                    <p:anim calcmode="lin" valueType="num">
                                      <p:cBhvr>
                                        <p:cTn id="6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7"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1000"/>
                                        <p:tgtEl>
                                          <p:spTgt spid="19"/>
                                        </p:tgtEl>
                                      </p:cBhvr>
                                    </p:animEffect>
                                    <p:anim calcmode="lin" valueType="num">
                                      <p:cBhvr>
                                        <p:cTn id="68" dur="1000" fill="hold"/>
                                        <p:tgtEl>
                                          <p:spTgt spid="19"/>
                                        </p:tgtEl>
                                        <p:attrNameLst>
                                          <p:attrName>ppt_x</p:attrName>
                                        </p:attrNameLst>
                                      </p:cBhvr>
                                      <p:tavLst>
                                        <p:tav tm="0">
                                          <p:val>
                                            <p:strVal val="#ppt_x"/>
                                          </p:val>
                                        </p:tav>
                                        <p:tav tm="100000">
                                          <p:val>
                                            <p:strVal val="#ppt_x"/>
                                          </p:val>
                                        </p:tav>
                                      </p:tavLst>
                                    </p:anim>
                                    <p:anim calcmode="lin" valueType="num">
                                      <p:cBhvr>
                                        <p:cTn id="69" dur="1000" fill="hold"/>
                                        <p:tgtEl>
                                          <p:spTgt spid="19"/>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1000"/>
                                        <p:tgtEl>
                                          <p:spTgt spid="20"/>
                                        </p:tgtEl>
                                      </p:cBhvr>
                                    </p:animEffect>
                                    <p:anim calcmode="lin" valueType="num">
                                      <p:cBhvr>
                                        <p:cTn id="73" dur="1000" fill="hold"/>
                                        <p:tgtEl>
                                          <p:spTgt spid="20"/>
                                        </p:tgtEl>
                                        <p:attrNameLst>
                                          <p:attrName>ppt_x</p:attrName>
                                        </p:attrNameLst>
                                      </p:cBhvr>
                                      <p:tavLst>
                                        <p:tav tm="0">
                                          <p:val>
                                            <p:strVal val="#ppt_x"/>
                                          </p:val>
                                        </p:tav>
                                        <p:tav tm="100000">
                                          <p:val>
                                            <p:strVal val="#ppt_x"/>
                                          </p:val>
                                        </p:tav>
                                      </p:tavLst>
                                    </p:anim>
                                    <p:anim calcmode="lin" valueType="num">
                                      <p:cBhvr>
                                        <p:cTn id="7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6AAC8-BB51-025E-7B79-5108A80C3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60C7C-2935-7540-35AE-B6105C180B86}"/>
              </a:ext>
            </a:extLst>
          </p:cNvPr>
          <p:cNvSpPr>
            <a:spLocks noGrp="1"/>
          </p:cNvSpPr>
          <p:nvPr>
            <p:ph type="title"/>
          </p:nvPr>
        </p:nvSpPr>
        <p:spPr>
          <a:xfrm>
            <a:off x="653031" y="284658"/>
            <a:ext cx="7759449" cy="747252"/>
          </a:xfrm>
        </p:spPr>
        <p:txBody>
          <a:bodyPr>
            <a:normAutofit/>
          </a:bodyPr>
          <a:lstStyle/>
          <a:p>
            <a:r>
              <a:rPr lang="en-IN" sz="3200" b="1" dirty="0">
                <a:solidFill>
                  <a:srgbClr val="C00000"/>
                </a:solidFill>
                <a:latin typeface="Arial" panose="020B0604020202020204" pitchFamily="34" charset="0"/>
                <a:cs typeface="Arial" panose="020B0604020202020204" pitchFamily="34" charset="0"/>
              </a:rPr>
              <a:t>How to Ask Successfully (Top 5 DO’s)</a:t>
            </a:r>
          </a:p>
        </p:txBody>
      </p:sp>
      <p:sp>
        <p:nvSpPr>
          <p:cNvPr id="3" name="Content Placeholder 2">
            <a:extLst>
              <a:ext uri="{FF2B5EF4-FFF2-40B4-BE49-F238E27FC236}">
                <a16:creationId xmlns:a16="http://schemas.microsoft.com/office/drawing/2014/main" id="{3115BE09-407A-220E-ACDF-9DAF31149961}"/>
              </a:ext>
            </a:extLst>
          </p:cNvPr>
          <p:cNvSpPr>
            <a:spLocks noGrp="1"/>
          </p:cNvSpPr>
          <p:nvPr>
            <p:ph idx="1"/>
          </p:nvPr>
        </p:nvSpPr>
        <p:spPr>
          <a:xfrm>
            <a:off x="378773" y="1144162"/>
            <a:ext cx="11606981" cy="1953845"/>
          </a:xfrm>
        </p:spPr>
        <p:txBody>
          <a:bodyPr>
            <a:noAutofit/>
          </a:bodyPr>
          <a:lstStyle/>
          <a:p>
            <a:pPr marL="342900" lvl="0" indent="-342900" eaLnBrk="0" fontAlgn="base" hangingPunct="0">
              <a:lnSpc>
                <a:spcPct val="150000"/>
              </a:lnSpc>
              <a:spcBef>
                <a:spcPct val="0"/>
              </a:spcBef>
              <a:spcAft>
                <a:spcPct val="0"/>
              </a:spcAft>
              <a:buFont typeface="+mj-lt"/>
              <a:buAutoNum type="arabicPeriod"/>
            </a:pPr>
            <a:r>
              <a:rPr lang="en-US" altLang="en-US" sz="1600" b="1" dirty="0">
                <a:latin typeface="Arial" panose="020B0604020202020204" pitchFamily="34" charset="0"/>
              </a:rPr>
              <a:t>Do personalize it.</a:t>
            </a:r>
            <a:r>
              <a:rPr lang="en-US" altLang="en-US" sz="1600" dirty="0">
                <a:latin typeface="Arial" panose="020B0604020202020204" pitchFamily="34" charset="0"/>
              </a:rPr>
              <a:t> Use their name and mention the specific piece they bought.</a:t>
            </a:r>
          </a:p>
          <a:p>
            <a:pPr marL="342900" lvl="0" indent="-342900" eaLnBrk="0" fontAlgn="base" hangingPunct="0">
              <a:lnSpc>
                <a:spcPct val="150000"/>
              </a:lnSpc>
              <a:spcBef>
                <a:spcPct val="0"/>
              </a:spcBef>
              <a:spcAft>
                <a:spcPct val="0"/>
              </a:spcAft>
              <a:buFont typeface="+mj-lt"/>
              <a:buAutoNum type="arabicPeriod"/>
            </a:pPr>
            <a:r>
              <a:rPr lang="en-US" altLang="en-US" sz="1600" b="1" dirty="0">
                <a:latin typeface="Arial" panose="020B0604020202020204" pitchFamily="34" charset="0"/>
              </a:rPr>
              <a:t>Do make it easy.</a:t>
            </a:r>
            <a:r>
              <a:rPr lang="en-US" altLang="en-US" sz="1600" dirty="0">
                <a:latin typeface="Arial" panose="020B0604020202020204" pitchFamily="34" charset="0"/>
              </a:rPr>
              <a:t> Give them a direct link via a QR code or a short URL.</a:t>
            </a:r>
          </a:p>
          <a:p>
            <a:pPr marL="342900" lvl="0" indent="-342900" eaLnBrk="0" fontAlgn="base" hangingPunct="0">
              <a:lnSpc>
                <a:spcPct val="150000"/>
              </a:lnSpc>
              <a:spcBef>
                <a:spcPct val="0"/>
              </a:spcBef>
              <a:spcAft>
                <a:spcPct val="0"/>
              </a:spcAft>
              <a:buFont typeface="+mj-lt"/>
              <a:buAutoNum type="arabicPeriod"/>
            </a:pPr>
            <a:r>
              <a:rPr lang="en-US" altLang="en-US" sz="1600" b="1" dirty="0">
                <a:latin typeface="Arial" panose="020B0604020202020204" pitchFamily="34" charset="0"/>
              </a:rPr>
              <a:t>Do explain why.</a:t>
            </a:r>
            <a:r>
              <a:rPr lang="en-US" altLang="en-US" sz="1600" dirty="0">
                <a:latin typeface="Arial" panose="020B0604020202020204" pitchFamily="34" charset="0"/>
              </a:rPr>
              <a:t> Tell them their feedback helps the business and helps other customers.</a:t>
            </a:r>
          </a:p>
          <a:p>
            <a:pPr marL="342900" lvl="0" indent="-342900" eaLnBrk="0" fontAlgn="base" hangingPunct="0">
              <a:lnSpc>
                <a:spcPct val="150000"/>
              </a:lnSpc>
              <a:spcBef>
                <a:spcPct val="0"/>
              </a:spcBef>
              <a:spcAft>
                <a:spcPct val="0"/>
              </a:spcAft>
              <a:buFont typeface="+mj-lt"/>
              <a:buAutoNum type="arabicPeriod"/>
            </a:pPr>
            <a:r>
              <a:rPr lang="en-US" altLang="en-US" sz="1600" b="1" dirty="0">
                <a:latin typeface="Arial" panose="020B0604020202020204" pitchFamily="34" charset="0"/>
              </a:rPr>
              <a:t>Do respond to all reviews.</a:t>
            </a:r>
            <a:r>
              <a:rPr lang="en-US" altLang="en-US" sz="1600" dirty="0">
                <a:latin typeface="Arial" panose="020B0604020202020204" pitchFamily="34" charset="0"/>
              </a:rPr>
              <a:t> Show them we are listening and that their voice matters.</a:t>
            </a:r>
          </a:p>
          <a:p>
            <a:pPr marL="342900" lvl="0" indent="-342900" eaLnBrk="0" fontAlgn="base" hangingPunct="0">
              <a:lnSpc>
                <a:spcPct val="150000"/>
              </a:lnSpc>
              <a:spcBef>
                <a:spcPct val="0"/>
              </a:spcBef>
              <a:spcAft>
                <a:spcPct val="0"/>
              </a:spcAft>
              <a:buFont typeface="+mj-lt"/>
              <a:buAutoNum type="arabicPeriod"/>
            </a:pPr>
            <a:r>
              <a:rPr lang="en-US" altLang="en-US" sz="1600" b="1" dirty="0">
                <a:latin typeface="Arial" panose="020B0604020202020204" pitchFamily="34" charset="0"/>
              </a:rPr>
              <a:t>Do train.</a:t>
            </a:r>
            <a:r>
              <a:rPr lang="en-US" altLang="en-US" sz="1600" dirty="0">
                <a:latin typeface="Arial" panose="020B0604020202020204" pitchFamily="34" charset="0"/>
              </a:rPr>
              <a:t> Practice with your team and feel confident in your approach</a:t>
            </a:r>
            <a:r>
              <a:rPr lang="en-US" altLang="en-US" sz="1800" dirty="0">
                <a:latin typeface="Arial" panose="020B0604020202020204" pitchFamily="34" charset="0"/>
              </a:rPr>
              <a:t>.</a:t>
            </a:r>
          </a:p>
        </p:txBody>
      </p:sp>
      <p:sp>
        <p:nvSpPr>
          <p:cNvPr id="7" name="Content Placeholder 2">
            <a:extLst>
              <a:ext uri="{FF2B5EF4-FFF2-40B4-BE49-F238E27FC236}">
                <a16:creationId xmlns:a16="http://schemas.microsoft.com/office/drawing/2014/main" id="{BC5A7D73-58D0-5095-1FC6-346DEB8992BE}"/>
              </a:ext>
            </a:extLst>
          </p:cNvPr>
          <p:cNvSpPr txBox="1">
            <a:spLocks/>
          </p:cNvSpPr>
          <p:nvPr/>
        </p:nvSpPr>
        <p:spPr>
          <a:xfrm>
            <a:off x="378774" y="3785314"/>
            <a:ext cx="11606981" cy="20650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தனிப்பட்டதா கேளுங்க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அவங்க பேரை சொல்லி</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அவங்க வாங்கிய பொருளை பத்தி பேசி கேளுங்க</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அவர்களுக்கு சுலபமா மாத்துங்க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ஒரு </a:t>
            </a:r>
            <a:r>
              <a:rPr lang="en-US" altLang="en-US" sz="1400" dirty="0">
                <a:latin typeface="Arial" panose="020B0604020202020204" pitchFamily="34" charset="0"/>
                <a:cs typeface="Latha" panose="020B0604020202020204" pitchFamily="34" charset="0"/>
              </a:rPr>
              <a:t>QR </a:t>
            </a:r>
            <a:r>
              <a:rPr lang="ta-IN" altLang="en-US" sz="1400" dirty="0">
                <a:latin typeface="Arial" panose="020B0604020202020204" pitchFamily="34" charset="0"/>
              </a:rPr>
              <a:t>கோட் அல்லது சின்ன லிங்க் கொடுங்க</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ஏன் முக்கியம்னு சொல்லுங்க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அவங்க கருத்து</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நம்ம கடைக்கு எவ்வளவு முக்கியம்னு சொல்லுங்க</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எல்லா கருத்துக்களுக்கும் பதில் சொல்லுங்க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நல்லது</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கெட்டது எல்லா ரிவ்யூஸுக்கும் பதில் சொல்லணும்</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அப்போதான் நாம அவங்களை மதிக்கிறோம்னு தெரியும்</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பயிற்சி செய்யுங்க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உங்க டீம் கூட பேசி பழகி</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தன்னம்பிக்கையோட கேளுங்க</a:t>
            </a:r>
            <a:r>
              <a:rPr lang="en-US" altLang="en-US" sz="1400" dirty="0">
                <a:latin typeface="Arial" panose="020B0604020202020204" pitchFamily="34" charset="0"/>
                <a:cs typeface="Latha" panose="020B0604020202020204" pitchFamily="34" charset="0"/>
              </a:rPr>
              <a:t>.</a:t>
            </a:r>
            <a:endParaRPr lang="en-US" altLang="en-US" sz="1600" dirty="0">
              <a:latin typeface="Arial" panose="020B0604020202020204" pitchFamily="34" charset="0"/>
            </a:endParaRPr>
          </a:p>
        </p:txBody>
      </p:sp>
      <p:pic>
        <p:nvPicPr>
          <p:cNvPr id="8" name="Picture 7">
            <a:extLst>
              <a:ext uri="{FF2B5EF4-FFF2-40B4-BE49-F238E27FC236}">
                <a16:creationId xmlns:a16="http://schemas.microsoft.com/office/drawing/2014/main" id="{FBF02A25-2394-51D5-A042-B364031854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10627" y="105756"/>
            <a:ext cx="757241" cy="757241"/>
          </a:xfrm>
          <a:prstGeom prst="rect">
            <a:avLst/>
          </a:prstGeom>
        </p:spPr>
      </p:pic>
      <p:grpSp>
        <p:nvGrpSpPr>
          <p:cNvPr id="14" name="Group 13">
            <a:extLst>
              <a:ext uri="{FF2B5EF4-FFF2-40B4-BE49-F238E27FC236}">
                <a16:creationId xmlns:a16="http://schemas.microsoft.com/office/drawing/2014/main" id="{0CE30A3A-D8F9-2E52-3F7E-C8B16C10F800}"/>
              </a:ext>
            </a:extLst>
          </p:cNvPr>
          <p:cNvGrpSpPr/>
          <p:nvPr/>
        </p:nvGrpSpPr>
        <p:grpSpPr>
          <a:xfrm>
            <a:off x="354024" y="3451027"/>
            <a:ext cx="11264226" cy="53122"/>
            <a:chOff x="0" y="700556"/>
            <a:chExt cx="8128000" cy="1198080"/>
          </a:xfrm>
          <a:solidFill>
            <a:schemeClr val="accent4">
              <a:lumMod val="60000"/>
              <a:lumOff val="40000"/>
            </a:schemeClr>
          </a:solidFill>
        </p:grpSpPr>
        <p:sp>
          <p:nvSpPr>
            <p:cNvPr id="15" name="Rectangle: Rounded Corners 14">
              <a:extLst>
                <a:ext uri="{FF2B5EF4-FFF2-40B4-BE49-F238E27FC236}">
                  <a16:creationId xmlns:a16="http://schemas.microsoft.com/office/drawing/2014/main" id="{BCE4A135-AC22-5F7F-F039-E259CDF80946}"/>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ectangle: Rounded Corners 4">
              <a:extLst>
                <a:ext uri="{FF2B5EF4-FFF2-40B4-BE49-F238E27FC236}">
                  <a16:creationId xmlns:a16="http://schemas.microsoft.com/office/drawing/2014/main" id="{ECC4C911-9C9F-F607-50FC-A7C15E9AC0EE}"/>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5" name="Picture 4">
            <a:extLst>
              <a:ext uri="{FF2B5EF4-FFF2-40B4-BE49-F238E27FC236}">
                <a16:creationId xmlns:a16="http://schemas.microsoft.com/office/drawing/2014/main" id="{F7B4A57F-FCE2-4335-B2C4-7A5C1651F7E9}"/>
              </a:ext>
            </a:extLst>
          </p:cNvPr>
          <p:cNvPicPr>
            <a:picLocks noChangeAspect="1"/>
          </p:cNvPicPr>
          <p:nvPr/>
        </p:nvPicPr>
        <p:blipFill>
          <a:blip r:embed="rId3"/>
          <a:stretch>
            <a:fillRect/>
          </a:stretch>
        </p:blipFill>
        <p:spPr>
          <a:xfrm>
            <a:off x="9264197" y="791142"/>
            <a:ext cx="1377815" cy="2097206"/>
          </a:xfrm>
          <a:prstGeom prst="rect">
            <a:avLst/>
          </a:prstGeom>
        </p:spPr>
      </p:pic>
      <p:pic>
        <p:nvPicPr>
          <p:cNvPr id="19" name="Picture 18">
            <a:extLst>
              <a:ext uri="{FF2B5EF4-FFF2-40B4-BE49-F238E27FC236}">
                <a16:creationId xmlns:a16="http://schemas.microsoft.com/office/drawing/2014/main" id="{E14F3F9A-17BC-4841-8495-60CCD102F764}"/>
              </a:ext>
            </a:extLst>
          </p:cNvPr>
          <p:cNvPicPr>
            <a:picLocks noChangeAspect="1"/>
          </p:cNvPicPr>
          <p:nvPr/>
        </p:nvPicPr>
        <p:blipFill>
          <a:blip r:embed="rId4"/>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851954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0AFB-B284-FB3E-ACCD-184C17C9F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D1F00-6F0F-3DC9-AC13-7C8826BCA388}"/>
              </a:ext>
            </a:extLst>
          </p:cNvPr>
          <p:cNvSpPr>
            <a:spLocks noGrp="1"/>
          </p:cNvSpPr>
          <p:nvPr>
            <p:ph type="title"/>
          </p:nvPr>
        </p:nvSpPr>
        <p:spPr>
          <a:xfrm>
            <a:off x="262665" y="227104"/>
            <a:ext cx="7100336" cy="775417"/>
          </a:xfrm>
        </p:spPr>
        <p:txBody>
          <a:bodyPr>
            <a:normAutofit/>
          </a:bodyPr>
          <a:lstStyle/>
          <a:p>
            <a:r>
              <a:rPr lang="en-IN" sz="3200" b="1" dirty="0">
                <a:solidFill>
                  <a:srgbClr val="C00000"/>
                </a:solidFill>
                <a:latin typeface="Arial" panose="020B0604020202020204" pitchFamily="34" charset="0"/>
                <a:cs typeface="Arial" panose="020B0604020202020204" pitchFamily="34" charset="0"/>
              </a:rPr>
              <a:t>What to Avoid (The Top 5 DON’Ts)</a:t>
            </a:r>
          </a:p>
        </p:txBody>
      </p:sp>
      <p:sp>
        <p:nvSpPr>
          <p:cNvPr id="3" name="Content Placeholder 2">
            <a:extLst>
              <a:ext uri="{FF2B5EF4-FFF2-40B4-BE49-F238E27FC236}">
                <a16:creationId xmlns:a16="http://schemas.microsoft.com/office/drawing/2014/main" id="{99BB121C-E853-B847-79AB-52185EFD3EE0}"/>
              </a:ext>
            </a:extLst>
          </p:cNvPr>
          <p:cNvSpPr>
            <a:spLocks noGrp="1"/>
          </p:cNvSpPr>
          <p:nvPr>
            <p:ph idx="1"/>
          </p:nvPr>
        </p:nvSpPr>
        <p:spPr>
          <a:xfrm>
            <a:off x="393138" y="1007176"/>
            <a:ext cx="11405723" cy="2135662"/>
          </a:xfrm>
        </p:spPr>
        <p:txBody>
          <a:bodyPr>
            <a:normAutofit fontScale="92500" lnSpcReduction="20000"/>
          </a:bodyPr>
          <a:lstStyle/>
          <a:p>
            <a:pPr marL="342900" lvl="0" indent="-342900" eaLnBrk="0" fontAlgn="base" hangingPunct="0">
              <a:lnSpc>
                <a:spcPct val="150000"/>
              </a:lnSpc>
              <a:spcBef>
                <a:spcPct val="0"/>
              </a:spcBef>
              <a:spcAft>
                <a:spcPct val="0"/>
              </a:spcAft>
              <a:buFont typeface="+mj-lt"/>
              <a:buAutoNum type="arabicPeriod"/>
            </a:pPr>
            <a:r>
              <a:rPr lang="en-US" altLang="en-US" sz="1800" b="1" dirty="0">
                <a:latin typeface="Arial" panose="020B0604020202020204" pitchFamily="34" charset="0"/>
              </a:rPr>
              <a:t>Don't ask at the wrong time.</a:t>
            </a:r>
            <a:r>
              <a:rPr lang="en-US" altLang="en-US" sz="1800" dirty="0">
                <a:latin typeface="Arial" panose="020B0604020202020204" pitchFamily="34" charset="0"/>
              </a:rPr>
              <a:t> Avoid asking a customer who is in a hurry or angry customer.</a:t>
            </a:r>
          </a:p>
          <a:p>
            <a:pPr marL="342900" lvl="0" indent="-342900" eaLnBrk="0" fontAlgn="base" hangingPunct="0">
              <a:lnSpc>
                <a:spcPct val="150000"/>
              </a:lnSpc>
              <a:spcBef>
                <a:spcPct val="0"/>
              </a:spcBef>
              <a:spcAft>
                <a:spcPct val="0"/>
              </a:spcAft>
              <a:buFont typeface="+mj-lt"/>
              <a:buAutoNum type="arabicPeriod"/>
            </a:pPr>
            <a:r>
              <a:rPr lang="en-US" altLang="en-US" sz="1800" b="1" dirty="0">
                <a:latin typeface="Arial" panose="020B0604020202020204" pitchFamily="34" charset="0"/>
              </a:rPr>
              <a:t>Don't offer incentives.</a:t>
            </a:r>
            <a:r>
              <a:rPr lang="en-US" altLang="en-US" sz="1800" dirty="0">
                <a:latin typeface="Arial" panose="020B0604020202020204" pitchFamily="34" charset="0"/>
              </a:rPr>
              <a:t> This is against Google's policy and can be seen as inauthentic.</a:t>
            </a:r>
          </a:p>
          <a:p>
            <a:pPr marL="342900" lvl="0" indent="-342900" eaLnBrk="0" fontAlgn="base" hangingPunct="0">
              <a:lnSpc>
                <a:spcPct val="150000"/>
              </a:lnSpc>
              <a:spcBef>
                <a:spcPct val="0"/>
              </a:spcBef>
              <a:spcAft>
                <a:spcPct val="0"/>
              </a:spcAft>
              <a:buFont typeface="+mj-lt"/>
              <a:buAutoNum type="arabicPeriod"/>
            </a:pPr>
            <a:r>
              <a:rPr lang="en-US" altLang="en-US" sz="1800" b="1" dirty="0">
                <a:latin typeface="Arial" panose="020B0604020202020204" pitchFamily="34" charset="0"/>
              </a:rPr>
              <a:t>Don't be pushy.</a:t>
            </a:r>
            <a:r>
              <a:rPr lang="en-US" altLang="en-US" sz="1800" dirty="0">
                <a:latin typeface="Arial" panose="020B0604020202020204" pitchFamily="34" charset="0"/>
              </a:rPr>
              <a:t> A sincere request is far more effective than a forceful one.</a:t>
            </a:r>
          </a:p>
          <a:p>
            <a:pPr marL="342900" lvl="0" indent="-342900" eaLnBrk="0" fontAlgn="base" hangingPunct="0">
              <a:lnSpc>
                <a:spcPct val="150000"/>
              </a:lnSpc>
              <a:spcBef>
                <a:spcPct val="0"/>
              </a:spcBef>
              <a:spcAft>
                <a:spcPct val="0"/>
              </a:spcAft>
              <a:buFont typeface="+mj-lt"/>
              <a:buAutoNum type="arabicPeriod"/>
            </a:pPr>
            <a:r>
              <a:rPr lang="en-US" altLang="en-US" sz="1800" b="1" dirty="0">
                <a:latin typeface="Arial" panose="020B0604020202020204" pitchFamily="34" charset="0"/>
              </a:rPr>
              <a:t>Don't make it complicated.</a:t>
            </a:r>
            <a:r>
              <a:rPr lang="en-US" altLang="en-US" sz="1800" dirty="0">
                <a:latin typeface="Arial" panose="020B0604020202020204" pitchFamily="34" charset="0"/>
              </a:rPr>
              <a:t> Avoid asking them to search for the showroom name. Make it simple for customer –QR code is best  (Never request customer mobile phone, Just guide the customer)</a:t>
            </a:r>
          </a:p>
          <a:p>
            <a:pPr marL="342900" lvl="0" indent="-342900" eaLnBrk="0" fontAlgn="base" hangingPunct="0">
              <a:lnSpc>
                <a:spcPct val="150000"/>
              </a:lnSpc>
              <a:spcBef>
                <a:spcPct val="0"/>
              </a:spcBef>
              <a:spcAft>
                <a:spcPct val="0"/>
              </a:spcAft>
              <a:buFont typeface="+mj-lt"/>
              <a:buAutoNum type="arabicPeriod"/>
            </a:pPr>
            <a:r>
              <a:rPr lang="en-US" altLang="en-US" sz="1800" b="1" dirty="0">
                <a:latin typeface="Arial" panose="020B0604020202020204" pitchFamily="34" charset="0"/>
              </a:rPr>
              <a:t>Don't ignore the feedback.</a:t>
            </a:r>
            <a:r>
              <a:rPr lang="en-US" altLang="en-US" sz="1800" dirty="0">
                <a:latin typeface="Arial" panose="020B0604020202020204" pitchFamily="34" charset="0"/>
              </a:rPr>
              <a:t> Reviews are a valuable tool for improving our service.</a:t>
            </a:r>
          </a:p>
          <a:p>
            <a:pPr marL="342900" lvl="0" indent="-342900" eaLnBrk="0" fontAlgn="base" hangingPunct="0">
              <a:lnSpc>
                <a:spcPct val="150000"/>
              </a:lnSpc>
              <a:spcBef>
                <a:spcPct val="0"/>
              </a:spcBef>
              <a:spcAft>
                <a:spcPct val="0"/>
              </a:spcAft>
              <a:buFont typeface="+mj-lt"/>
              <a:buAutoNum type="arabicPeriod"/>
            </a:pPr>
            <a:endParaRPr lang="en-US" altLang="en-US" sz="1800" dirty="0">
              <a:latin typeface="Arial" panose="020B0604020202020204" pitchFamily="34" charset="0"/>
            </a:endParaRPr>
          </a:p>
          <a:p>
            <a:pPr marL="342900" lvl="0" indent="-342900" eaLnBrk="0" fontAlgn="base" hangingPunct="0">
              <a:lnSpc>
                <a:spcPct val="150000"/>
              </a:lnSpc>
              <a:spcBef>
                <a:spcPct val="0"/>
              </a:spcBef>
              <a:spcAft>
                <a:spcPct val="0"/>
              </a:spcAft>
              <a:buFont typeface="+mj-lt"/>
              <a:buAutoNum type="arabicPeriod"/>
            </a:pPr>
            <a:endParaRPr lang="en-US" altLang="en-US" sz="1800" dirty="0">
              <a:latin typeface="Arial" panose="020B0604020202020204" pitchFamily="34" charset="0"/>
            </a:endParaRPr>
          </a:p>
          <a:p>
            <a:pPr marL="342900" lvl="0" indent="-342900" eaLnBrk="0" fontAlgn="base" hangingPunct="0">
              <a:lnSpc>
                <a:spcPct val="150000"/>
              </a:lnSpc>
              <a:spcBef>
                <a:spcPct val="0"/>
              </a:spcBef>
              <a:spcAft>
                <a:spcPct val="0"/>
              </a:spcAft>
              <a:buFont typeface="+mj-lt"/>
              <a:buAutoNum type="arabicPeriod"/>
            </a:pPr>
            <a:endParaRPr lang="en-US" altLang="en-US" sz="1800" dirty="0">
              <a:latin typeface="Arial" panose="020B0604020202020204" pitchFamily="34" charset="0"/>
            </a:endParaRPr>
          </a:p>
        </p:txBody>
      </p:sp>
      <p:pic>
        <p:nvPicPr>
          <p:cNvPr id="7" name="Picture 6">
            <a:extLst>
              <a:ext uri="{FF2B5EF4-FFF2-40B4-BE49-F238E27FC236}">
                <a16:creationId xmlns:a16="http://schemas.microsoft.com/office/drawing/2014/main" id="{A87D617B-7CA2-D43E-A1B8-408E1DD72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4970" y="129593"/>
            <a:ext cx="775417" cy="775417"/>
          </a:xfrm>
          <a:prstGeom prst="rect">
            <a:avLst/>
          </a:prstGeom>
        </p:spPr>
      </p:pic>
      <p:sp>
        <p:nvSpPr>
          <p:cNvPr id="13" name="Content Placeholder 2">
            <a:extLst>
              <a:ext uri="{FF2B5EF4-FFF2-40B4-BE49-F238E27FC236}">
                <a16:creationId xmlns:a16="http://schemas.microsoft.com/office/drawing/2014/main" id="{11B88B23-BC68-D7EA-1E57-A171EAF98003}"/>
              </a:ext>
            </a:extLst>
          </p:cNvPr>
          <p:cNvSpPr txBox="1">
            <a:spLocks/>
          </p:cNvSpPr>
          <p:nvPr/>
        </p:nvSpPr>
        <p:spPr>
          <a:xfrm>
            <a:off x="346586" y="3535201"/>
            <a:ext cx="11264227" cy="231562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தவறான நேரத்தில் கேட்காதீங்க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அவசரமா போற அல்லது கோபமா இருக்கிற</a:t>
            </a:r>
            <a:r>
              <a:rPr lang="en-US" altLang="en-US" sz="1400" dirty="0">
                <a:latin typeface="Arial" panose="020B0604020202020204" pitchFamily="34" charset="0"/>
              </a:rPr>
              <a:t> </a:t>
            </a:r>
            <a:r>
              <a:rPr lang="ta-IN" altLang="en-US" sz="1400" dirty="0">
                <a:latin typeface="Arial" panose="020B0604020202020204" pitchFamily="34" charset="0"/>
              </a:rPr>
              <a:t>கஸ்டமர்கிட்ட கேட்காதீங்க</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பரிசு கொடுத்து கேட்காதீங்க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ரிவ்யூ கொடுத்தா பரிசுனு சொல்லாதீங்க</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இது கூகிளோட விதிமுறைக்கு எதிரானது</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அழுத்தமா கேட்காதீங்க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மெதுவா</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நம்பிக்கையோட கேக்குறதுதான் சிறந்தது</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கஷ்டமாக்காதீங்க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கஸ்டமரை கூகிள்ல தேடி</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அப்புறம் ரிவ்யூ கொடுக்க சொல்லாதீங்க</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ஒரு சின்ன லிங்கே போதுமானது</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அவங்க போன வாங்கி நம்ப என்ட்ரி போடக்கூடாது</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வந்த கருத்துக்களை புறக்கணிக்காதீங்க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வந்த கருத்துக்களை சரி செய்ய பயன்படுத்தணும்</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endParaRPr lang="en-US" altLang="en-US" sz="1400" dirty="0">
              <a:latin typeface="Arial" panose="020B0604020202020204" pitchFamily="34" charset="0"/>
            </a:endParaRPr>
          </a:p>
        </p:txBody>
      </p:sp>
      <p:grpSp>
        <p:nvGrpSpPr>
          <p:cNvPr id="14" name="Group 13">
            <a:extLst>
              <a:ext uri="{FF2B5EF4-FFF2-40B4-BE49-F238E27FC236}">
                <a16:creationId xmlns:a16="http://schemas.microsoft.com/office/drawing/2014/main" id="{D95B539A-481A-8E90-D035-E778D03D80D1}"/>
              </a:ext>
            </a:extLst>
          </p:cNvPr>
          <p:cNvGrpSpPr/>
          <p:nvPr/>
        </p:nvGrpSpPr>
        <p:grpSpPr>
          <a:xfrm>
            <a:off x="181613" y="3269678"/>
            <a:ext cx="11264226" cy="53122"/>
            <a:chOff x="0" y="700556"/>
            <a:chExt cx="8128000" cy="1198080"/>
          </a:xfrm>
          <a:solidFill>
            <a:schemeClr val="accent4">
              <a:lumMod val="60000"/>
              <a:lumOff val="40000"/>
            </a:schemeClr>
          </a:solidFill>
        </p:grpSpPr>
        <p:sp>
          <p:nvSpPr>
            <p:cNvPr id="15" name="Rectangle: Rounded Corners 14">
              <a:extLst>
                <a:ext uri="{FF2B5EF4-FFF2-40B4-BE49-F238E27FC236}">
                  <a16:creationId xmlns:a16="http://schemas.microsoft.com/office/drawing/2014/main" id="{97C1C72F-307B-E362-3DAA-FD3AE21B19FF}"/>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ectangle: Rounded Corners 4">
              <a:extLst>
                <a:ext uri="{FF2B5EF4-FFF2-40B4-BE49-F238E27FC236}">
                  <a16:creationId xmlns:a16="http://schemas.microsoft.com/office/drawing/2014/main" id="{51F9BD15-B30D-DEC7-2A06-9047E3222C35}"/>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17" name="Picture 16">
            <a:extLst>
              <a:ext uri="{FF2B5EF4-FFF2-40B4-BE49-F238E27FC236}">
                <a16:creationId xmlns:a16="http://schemas.microsoft.com/office/drawing/2014/main" id="{F98A954F-EB57-4330-90F3-308FCA33A334}"/>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1822643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A6E9-784D-D1C8-146F-2681E7136FE2}"/>
              </a:ext>
            </a:extLst>
          </p:cNvPr>
          <p:cNvSpPr>
            <a:spLocks noGrp="1"/>
          </p:cNvSpPr>
          <p:nvPr>
            <p:ph type="title"/>
          </p:nvPr>
        </p:nvSpPr>
        <p:spPr>
          <a:xfrm>
            <a:off x="281687" y="351417"/>
            <a:ext cx="10515600" cy="596289"/>
          </a:xfrm>
        </p:spPr>
        <p:txBody>
          <a:bodyPr>
            <a:noAutofit/>
          </a:bodyPr>
          <a:lstStyle/>
          <a:p>
            <a:r>
              <a:rPr lang="en-IN" sz="2800" b="1" dirty="0">
                <a:solidFill>
                  <a:srgbClr val="C00000"/>
                </a:solidFill>
                <a:latin typeface="Arial" panose="020B0604020202020204" pitchFamily="34" charset="0"/>
                <a:cs typeface="Arial" panose="020B0604020202020204" pitchFamily="34" charset="0"/>
              </a:rPr>
              <a:t>Go Above and Beyond (Pro Tips for Excellence)</a:t>
            </a:r>
          </a:p>
        </p:txBody>
      </p:sp>
      <p:sp>
        <p:nvSpPr>
          <p:cNvPr id="3" name="Content Placeholder 2">
            <a:extLst>
              <a:ext uri="{FF2B5EF4-FFF2-40B4-BE49-F238E27FC236}">
                <a16:creationId xmlns:a16="http://schemas.microsoft.com/office/drawing/2014/main" id="{78E0A0A1-BCEF-C8AF-37A2-018A5644C35E}"/>
              </a:ext>
            </a:extLst>
          </p:cNvPr>
          <p:cNvSpPr>
            <a:spLocks noGrp="1"/>
          </p:cNvSpPr>
          <p:nvPr>
            <p:ph idx="1"/>
          </p:nvPr>
        </p:nvSpPr>
        <p:spPr>
          <a:xfrm>
            <a:off x="310432" y="1152177"/>
            <a:ext cx="11332079" cy="2327886"/>
          </a:xfrm>
        </p:spPr>
        <p:txBody>
          <a:bodyPr>
            <a:normAutofit/>
          </a:bodyPr>
          <a:lstStyle/>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The "Wow" Moment.</a:t>
            </a:r>
            <a:r>
              <a:rPr lang="en-US" sz="1600" dirty="0">
                <a:latin typeface="Arial" panose="020B0604020202020204" pitchFamily="34" charset="0"/>
                <a:cs typeface="Arial" panose="020B0604020202020204" pitchFamily="34" charset="0"/>
              </a:rPr>
              <a:t> Create an experience so exceptional they'll want to share it naturally, like a personal note or a special gift bag.</a:t>
            </a:r>
          </a:p>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Follow-up.</a:t>
            </a:r>
            <a:r>
              <a:rPr lang="en-US" sz="1600" dirty="0">
                <a:latin typeface="Arial" panose="020B0604020202020204" pitchFamily="34" charset="0"/>
                <a:cs typeface="Arial" panose="020B0604020202020204" pitchFamily="34" charset="0"/>
              </a:rPr>
              <a:t> Send a personalized thank-you call or text a few days later with a low-pressure review request.</a:t>
            </a:r>
          </a:p>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Showcase your reviews.</a:t>
            </a:r>
            <a:r>
              <a:rPr lang="en-US" sz="1600" dirty="0">
                <a:latin typeface="Arial" panose="020B0604020202020204" pitchFamily="34" charset="0"/>
                <a:cs typeface="Arial" panose="020B0604020202020204" pitchFamily="34" charset="0"/>
              </a:rPr>
              <a:t> Display your best reviews in the showroom to encourage others and remind them of the value of their feedback.</a:t>
            </a:r>
          </a:p>
          <a:p>
            <a:pPr>
              <a:lnSpc>
                <a:spcPct val="150000"/>
              </a:lnSpc>
            </a:pP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B0467C4-E8FD-6ED3-A0D8-3DF2797EC5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0618" y="127337"/>
            <a:ext cx="867423" cy="867423"/>
          </a:xfrm>
          <a:prstGeom prst="rect">
            <a:avLst/>
          </a:prstGeom>
        </p:spPr>
      </p:pic>
      <p:sp>
        <p:nvSpPr>
          <p:cNvPr id="12" name="Content Placeholder 2">
            <a:extLst>
              <a:ext uri="{FF2B5EF4-FFF2-40B4-BE49-F238E27FC236}">
                <a16:creationId xmlns:a16="http://schemas.microsoft.com/office/drawing/2014/main" id="{0C1E4998-3999-F356-8961-F51285A8C793}"/>
              </a:ext>
            </a:extLst>
          </p:cNvPr>
          <p:cNvSpPr txBox="1">
            <a:spLocks/>
          </p:cNvSpPr>
          <p:nvPr/>
        </p:nvSpPr>
        <p:spPr>
          <a:xfrm>
            <a:off x="200635" y="3775759"/>
            <a:ext cx="11551675" cy="2089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0" fontAlgn="base" hangingPunct="0">
              <a:lnSpc>
                <a:spcPct val="150000"/>
              </a:lnSpc>
              <a:spcBef>
                <a:spcPct val="0"/>
              </a:spcBef>
              <a:spcAft>
                <a:spcPct val="0"/>
              </a:spcAft>
              <a:buFont typeface="+mj-lt"/>
              <a:buAutoNum type="arabicPeriod"/>
            </a:pPr>
            <a:r>
              <a:rPr lang="ta-IN" altLang="en-US" sz="1400" b="1" dirty="0">
                <a:latin typeface="Arial" panose="020B0604020202020204" pitchFamily="34" charset="0"/>
              </a:rPr>
              <a:t>சந்தோஷத்தை கொடுங்க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வாடிக்கையாளர் ரொம்ப சந்தோஷமா இருந்தா</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அவங்களே ரிவ்யூ கொடுப்பாங்க</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அவங்க வந்ததுமே காபி</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டீ குடுக்குறது போல சின்ன சின்ன விஷயம் பண்ணலாம்</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en-US" altLang="en-US" sz="1400" b="1" dirty="0">
                <a:latin typeface="Arial" panose="020B0604020202020204" pitchFamily="34" charset="0"/>
              </a:rPr>
              <a:t> </a:t>
            </a:r>
            <a:r>
              <a:rPr lang="ta-IN" altLang="en-US" sz="1400" b="1" dirty="0">
                <a:latin typeface="Arial" panose="020B0604020202020204" pitchFamily="34" charset="0"/>
              </a:rPr>
              <a:t>ஃபாலோ அப் பண்ணுங்க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அவங்க வீட்டுக்கு போனதுக்கு அப்புறம் ஒரு </a:t>
            </a:r>
            <a:r>
              <a:rPr lang="en-US" altLang="en-US" sz="1400" dirty="0">
                <a:latin typeface="Arial" panose="020B0604020202020204" pitchFamily="34" charset="0"/>
              </a:rPr>
              <a:t>Phone call</a:t>
            </a:r>
            <a:r>
              <a:rPr lang="ta-IN" altLang="en-US" sz="1400" dirty="0">
                <a:latin typeface="Arial" panose="020B0604020202020204" pitchFamily="34" charset="0"/>
              </a:rPr>
              <a:t> அல்லது மெசேஜ்ல நன்றி சொல்லி</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அப்புறமா ரிவ்யூ கேட்கலாம்</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marL="342900" indent="-342900" eaLnBrk="0" fontAlgn="base" hangingPunct="0">
              <a:lnSpc>
                <a:spcPct val="150000"/>
              </a:lnSpc>
              <a:spcBef>
                <a:spcPct val="0"/>
              </a:spcBef>
              <a:spcAft>
                <a:spcPct val="0"/>
              </a:spcAft>
              <a:buFont typeface="+mj-lt"/>
              <a:buAutoNum type="arabicPeriod"/>
            </a:pPr>
            <a:r>
              <a:rPr lang="en-US" altLang="en-US" sz="1400" b="1" dirty="0">
                <a:latin typeface="Arial" panose="020B0604020202020204" pitchFamily="34" charset="0"/>
                <a:cs typeface="Latha" panose="020B0604020202020204" pitchFamily="34" charset="0"/>
              </a:rPr>
              <a:t> </a:t>
            </a:r>
            <a:r>
              <a:rPr lang="ta-IN" altLang="en-US" sz="1400" b="1" dirty="0">
                <a:latin typeface="Arial" panose="020B0604020202020204" pitchFamily="34" charset="0"/>
              </a:rPr>
              <a:t>நம்ம கடைல ரிவ்யூஸை காட்டுங்க</a:t>
            </a:r>
            <a:r>
              <a:rPr lang="en-US" altLang="en-US" sz="1400" b="1" dirty="0">
                <a:latin typeface="Arial" panose="020B0604020202020204" pitchFamily="34" charset="0"/>
                <a:cs typeface="Latha" panose="020B0604020202020204" pitchFamily="34" charset="0"/>
              </a:rPr>
              <a:t>:</a:t>
            </a:r>
            <a:r>
              <a:rPr lang="ta-IN" altLang="en-US" sz="1400" dirty="0">
                <a:latin typeface="Arial" panose="020B0604020202020204" pitchFamily="34" charset="0"/>
              </a:rPr>
              <a:t> கஸ்டமர்களுக்கு நல்ல ரிவ்யூஸை நம்ம கடைல</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ஒரு சின்ன ஸ்க்ரீன்ல அல்லது போர்டுல காட்டுறது</a:t>
            </a:r>
            <a:r>
              <a:rPr lang="en-US" altLang="en-US" sz="1400" dirty="0">
                <a:latin typeface="Arial" panose="020B0604020202020204" pitchFamily="34" charset="0"/>
                <a:cs typeface="Latha" panose="020B0604020202020204" pitchFamily="34" charset="0"/>
              </a:rPr>
              <a:t>, </a:t>
            </a:r>
            <a:r>
              <a:rPr lang="ta-IN" altLang="en-US" sz="1400" dirty="0">
                <a:latin typeface="Arial" panose="020B0604020202020204" pitchFamily="34" charset="0"/>
              </a:rPr>
              <a:t>மத்தவங்களை ரிவ்யூ கொடுக்க தூண்டும்</a:t>
            </a:r>
            <a:r>
              <a:rPr lang="en-US" altLang="en-US" sz="1400" dirty="0">
                <a:latin typeface="Arial" panose="020B0604020202020204" pitchFamily="34" charset="0"/>
                <a:cs typeface="Latha" panose="020B0604020202020204" pitchFamily="34" charset="0"/>
              </a:rPr>
              <a:t>.</a:t>
            </a:r>
            <a:endParaRPr lang="en-US" altLang="en-US" sz="1400" dirty="0">
              <a:latin typeface="Arial" panose="020B0604020202020204" pitchFamily="34" charset="0"/>
            </a:endParaRPr>
          </a:p>
          <a:p>
            <a:pPr>
              <a:lnSpc>
                <a:spcPct val="150000"/>
              </a:lnSpc>
            </a:pPr>
            <a:endParaRPr lang="en-US" sz="1400" dirty="0"/>
          </a:p>
          <a:p>
            <a:pPr marL="0" indent="0">
              <a:lnSpc>
                <a:spcPct val="150000"/>
              </a:lnSpc>
              <a:buNone/>
            </a:pPr>
            <a:endParaRPr lang="en-IN" sz="1400" dirty="0"/>
          </a:p>
        </p:txBody>
      </p:sp>
      <p:grpSp>
        <p:nvGrpSpPr>
          <p:cNvPr id="13" name="Group 12">
            <a:extLst>
              <a:ext uri="{FF2B5EF4-FFF2-40B4-BE49-F238E27FC236}">
                <a16:creationId xmlns:a16="http://schemas.microsoft.com/office/drawing/2014/main" id="{B61AC84B-7A59-7D93-AF5D-B469E583B37A}"/>
              </a:ext>
            </a:extLst>
          </p:cNvPr>
          <p:cNvGrpSpPr/>
          <p:nvPr/>
        </p:nvGrpSpPr>
        <p:grpSpPr>
          <a:xfrm>
            <a:off x="200635" y="3508912"/>
            <a:ext cx="11264226" cy="53122"/>
            <a:chOff x="0" y="700556"/>
            <a:chExt cx="8128000" cy="1198080"/>
          </a:xfrm>
          <a:solidFill>
            <a:schemeClr val="accent4">
              <a:lumMod val="60000"/>
              <a:lumOff val="40000"/>
            </a:schemeClr>
          </a:solidFill>
        </p:grpSpPr>
        <p:sp>
          <p:nvSpPr>
            <p:cNvPr id="14" name="Rectangle: Rounded Corners 13">
              <a:extLst>
                <a:ext uri="{FF2B5EF4-FFF2-40B4-BE49-F238E27FC236}">
                  <a16:creationId xmlns:a16="http://schemas.microsoft.com/office/drawing/2014/main" id="{321F6B62-A39F-A512-4A94-9D35221EC9EA}"/>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ectangle: Rounded Corners 4">
              <a:extLst>
                <a:ext uri="{FF2B5EF4-FFF2-40B4-BE49-F238E27FC236}">
                  <a16:creationId xmlns:a16="http://schemas.microsoft.com/office/drawing/2014/main" id="{882CC691-7C5E-56CB-0086-A7D013D114B5}"/>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16" name="Picture 15">
            <a:extLst>
              <a:ext uri="{FF2B5EF4-FFF2-40B4-BE49-F238E27FC236}">
                <a16:creationId xmlns:a16="http://schemas.microsoft.com/office/drawing/2014/main" id="{D6B4E217-E98B-41FB-B79B-E8249EC803E9}"/>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2833367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753B-D1A1-AD0D-E8A5-B985B2F825D6}"/>
              </a:ext>
            </a:extLst>
          </p:cNvPr>
          <p:cNvSpPr>
            <a:spLocks noGrp="1"/>
          </p:cNvSpPr>
          <p:nvPr>
            <p:ph type="title"/>
          </p:nvPr>
        </p:nvSpPr>
        <p:spPr>
          <a:xfrm>
            <a:off x="258097" y="247477"/>
            <a:ext cx="10515600" cy="676755"/>
          </a:xfrm>
        </p:spPr>
        <p:txBody>
          <a:bodyPr>
            <a:normAutofit/>
          </a:bodyPr>
          <a:lstStyle/>
          <a:p>
            <a:r>
              <a:rPr lang="en-IN" sz="2400" b="1" dirty="0">
                <a:solidFill>
                  <a:srgbClr val="C00000"/>
                </a:solidFill>
                <a:latin typeface="Arial Black" panose="020B0A04020102020204" pitchFamily="34" charset="0"/>
              </a:rPr>
              <a:t>The Golden Script (Putting it into Practice)</a:t>
            </a:r>
          </a:p>
        </p:txBody>
      </p:sp>
      <p:sp>
        <p:nvSpPr>
          <p:cNvPr id="3" name="Content Placeholder 2">
            <a:extLst>
              <a:ext uri="{FF2B5EF4-FFF2-40B4-BE49-F238E27FC236}">
                <a16:creationId xmlns:a16="http://schemas.microsoft.com/office/drawing/2014/main" id="{E956C41D-443B-232C-3F08-FCA56E4163F3}"/>
              </a:ext>
            </a:extLst>
          </p:cNvPr>
          <p:cNvSpPr>
            <a:spLocks noGrp="1"/>
          </p:cNvSpPr>
          <p:nvPr>
            <p:ph idx="1"/>
          </p:nvPr>
        </p:nvSpPr>
        <p:spPr>
          <a:xfrm>
            <a:off x="439690" y="1035008"/>
            <a:ext cx="11312620" cy="2489556"/>
          </a:xfrm>
        </p:spPr>
        <p:txBody>
          <a:bodyPr>
            <a:normAutofit fontScale="92500" lnSpcReduction="20000"/>
          </a:bodyPr>
          <a:lstStyle/>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Direct :</a:t>
            </a:r>
            <a:r>
              <a:rPr lang="en-US" sz="1600" dirty="0">
                <a:latin typeface="Arial" panose="020B0604020202020204" pitchFamily="34" charset="0"/>
                <a:cs typeface="Arial" panose="020B0604020202020204" pitchFamily="34" charset="0"/>
              </a:rPr>
              <a:t> "It was a pleasure helping you find the perfect [item]. If you have a moment, we would be so grateful if you could share your experience on Google."</a:t>
            </a:r>
          </a:p>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After a positive comment:</a:t>
            </a:r>
            <a:r>
              <a:rPr lang="en-US" sz="1600" dirty="0">
                <a:latin typeface="Arial" panose="020B0604020202020204" pitchFamily="34" charset="0"/>
                <a:cs typeface="Arial" panose="020B0604020202020204" pitchFamily="34" charset="0"/>
              </a:rPr>
              <a:t> "I'm so glad you're happy with the [item]. A review on Google would be the best compliment you could give us. It truly helps."</a:t>
            </a:r>
          </a:p>
          <a:p>
            <a:pPr marL="342900" indent="-342900">
              <a:lnSpc>
                <a:spcPct val="150000"/>
              </a:lnSpc>
              <a:buFont typeface="+mj-lt"/>
              <a:buAutoNum type="arabicPeriod"/>
            </a:pPr>
            <a:r>
              <a:rPr lang="en-US" sz="1600" b="1" dirty="0">
                <a:latin typeface="Arial" panose="020B0604020202020204" pitchFamily="34" charset="0"/>
                <a:cs typeface="Arial" panose="020B0604020202020204" pitchFamily="34" charset="0"/>
              </a:rPr>
              <a:t>Final touch:</a:t>
            </a:r>
            <a:r>
              <a:rPr lang="en-US" sz="1600" dirty="0">
                <a:latin typeface="Arial" panose="020B0604020202020204" pitchFamily="34" charset="0"/>
                <a:cs typeface="Arial" panose="020B0604020202020204" pitchFamily="34" charset="0"/>
              </a:rPr>
              <a:t> "Thank you so much for your shopping with us today, [Customer's Name]. If you had a great experience, a Google review is the best way to let us know. It makes a huge difference.” , Let us know if you find any mistakes, We are ready to correct it madam/sir</a:t>
            </a:r>
          </a:p>
          <a:p>
            <a:pPr marL="342900" indent="-342900">
              <a:lnSpc>
                <a:spcPct val="150000"/>
              </a:lnSpc>
              <a:buFont typeface="+mj-lt"/>
              <a:buAutoNum type="arabicPeriod"/>
            </a:pPr>
            <a:endParaRPr lang="en-US" sz="1600" dirty="0">
              <a:latin typeface="Arial" panose="020B0604020202020204" pitchFamily="34" charset="0"/>
              <a:cs typeface="Arial" panose="020B0604020202020204" pitchFamily="34" charset="0"/>
            </a:endParaRPr>
          </a:p>
          <a:p>
            <a:pPr marL="342900" indent="-342900">
              <a:lnSpc>
                <a:spcPct val="150000"/>
              </a:lnSpc>
              <a:buFont typeface="+mj-lt"/>
              <a:buAutoNum type="arabicPeriod"/>
            </a:pPr>
            <a:endParaRPr lang="en-IN"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538A8B5-AE8C-DC09-6A01-8899A1CCC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8560" y="142067"/>
            <a:ext cx="737946" cy="737946"/>
          </a:xfrm>
          <a:prstGeom prst="rect">
            <a:avLst/>
          </a:prstGeom>
        </p:spPr>
      </p:pic>
      <p:sp>
        <p:nvSpPr>
          <p:cNvPr id="13" name="Content Placeholder 2">
            <a:extLst>
              <a:ext uri="{FF2B5EF4-FFF2-40B4-BE49-F238E27FC236}">
                <a16:creationId xmlns:a16="http://schemas.microsoft.com/office/drawing/2014/main" id="{3ADDFF92-A16F-A61A-B2EC-9541237DC5DD}"/>
              </a:ext>
            </a:extLst>
          </p:cNvPr>
          <p:cNvSpPr txBox="1">
            <a:spLocks/>
          </p:cNvSpPr>
          <p:nvPr/>
        </p:nvSpPr>
        <p:spPr>
          <a:xfrm>
            <a:off x="388601" y="3934810"/>
            <a:ext cx="11363709" cy="18792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0" fontAlgn="base" hangingPunct="0">
              <a:lnSpc>
                <a:spcPct val="150000"/>
              </a:lnSpc>
              <a:spcBef>
                <a:spcPct val="0"/>
              </a:spcBef>
              <a:spcAft>
                <a:spcPct val="0"/>
              </a:spcAft>
              <a:buFont typeface="+mj-lt"/>
              <a:buAutoNum type="arabicPeriod"/>
            </a:pPr>
            <a:r>
              <a:rPr lang="ta-IN" altLang="en-US" sz="1200" b="1" dirty="0">
                <a:latin typeface="Arial" panose="020B0604020202020204" pitchFamily="34" charset="0"/>
              </a:rPr>
              <a:t>நேரடியா</a:t>
            </a:r>
            <a:r>
              <a:rPr lang="en-US" altLang="en-US" sz="1200" b="1" dirty="0">
                <a:latin typeface="Arial" panose="020B0604020202020204" pitchFamily="34" charset="0"/>
                <a:cs typeface="Latha" panose="020B0604020202020204" pitchFamily="34" charset="0"/>
              </a:rPr>
              <a:t>:</a:t>
            </a:r>
            <a:r>
              <a:rPr lang="en-US" altLang="en-US" sz="1200" dirty="0">
                <a:latin typeface="Arial" panose="020B0604020202020204" pitchFamily="34" charset="0"/>
              </a:rPr>
              <a:t> </a:t>
            </a:r>
            <a:r>
              <a:rPr lang="ta-IN" altLang="en-US" sz="1200" dirty="0">
                <a:latin typeface="Arial" panose="020B0604020202020204" pitchFamily="34" charset="0"/>
              </a:rPr>
              <a:t>உங்களுக்கு சேவை செஞ்சதுல நான் ரொம்ப சந்தோஷப்படுகிறேன் மேடம்</a:t>
            </a:r>
            <a:r>
              <a:rPr lang="en-US" altLang="en-US" sz="1200" dirty="0">
                <a:latin typeface="Arial" panose="020B0604020202020204" pitchFamily="34" charset="0"/>
              </a:rPr>
              <a:t>/</a:t>
            </a:r>
            <a:r>
              <a:rPr lang="ta-IN" altLang="en-US" sz="1200" dirty="0">
                <a:latin typeface="Arial" panose="020B0604020202020204" pitchFamily="34" charset="0"/>
              </a:rPr>
              <a:t>சார்</a:t>
            </a:r>
            <a:r>
              <a:rPr lang="en-US" altLang="en-US" sz="1200" dirty="0">
                <a:latin typeface="Arial" panose="020B0604020202020204" pitchFamily="34" charset="0"/>
              </a:rPr>
              <a:t>. </a:t>
            </a:r>
            <a:r>
              <a:rPr lang="ta-IN" altLang="en-US" sz="1200" dirty="0">
                <a:latin typeface="Arial" panose="020B0604020202020204" pitchFamily="34" charset="0"/>
              </a:rPr>
              <a:t>உங்களுக்கு நேரம் இருந்தா</a:t>
            </a:r>
            <a:r>
              <a:rPr lang="en-US" altLang="en-US" sz="1200" dirty="0">
                <a:latin typeface="Arial" panose="020B0604020202020204" pitchFamily="34" charset="0"/>
              </a:rPr>
              <a:t>, </a:t>
            </a:r>
            <a:r>
              <a:rPr lang="ta-IN" altLang="en-US" sz="1200" dirty="0">
                <a:latin typeface="Arial" panose="020B0604020202020204" pitchFamily="34" charset="0"/>
              </a:rPr>
              <a:t>கூகிள்ல உங்க கருத்தை சொன்னா ரொம்ப நன்றியா இருப்போம்</a:t>
            </a:r>
            <a:r>
              <a:rPr lang="en-US" altLang="en-US" sz="1200" dirty="0">
                <a:latin typeface="Arial" panose="020B0604020202020204" pitchFamily="34" charset="0"/>
              </a:rPr>
              <a:t>."</a:t>
            </a:r>
          </a:p>
          <a:p>
            <a:pPr marL="342900" indent="-342900" eaLnBrk="0" fontAlgn="base" hangingPunct="0">
              <a:lnSpc>
                <a:spcPct val="150000"/>
              </a:lnSpc>
              <a:spcBef>
                <a:spcPct val="0"/>
              </a:spcBef>
              <a:spcAft>
                <a:spcPct val="0"/>
              </a:spcAft>
              <a:buFont typeface="+mj-lt"/>
              <a:buAutoNum type="arabicPeriod"/>
            </a:pPr>
            <a:r>
              <a:rPr lang="ta-IN" altLang="en-US" sz="1200" b="1" dirty="0">
                <a:latin typeface="Arial" panose="020B0604020202020204" pitchFamily="34" charset="0"/>
              </a:rPr>
              <a:t>நல்ல விஷயம் சொன்னதுக்கு அப்புறம்</a:t>
            </a:r>
            <a:r>
              <a:rPr lang="en-US" altLang="en-US" sz="1200" b="1" dirty="0">
                <a:latin typeface="Arial" panose="020B0604020202020204" pitchFamily="34" charset="0"/>
                <a:cs typeface="Latha" panose="020B0604020202020204" pitchFamily="34" charset="0"/>
              </a:rPr>
              <a:t>:</a:t>
            </a:r>
            <a:r>
              <a:rPr lang="en-US" altLang="en-US" sz="1200" dirty="0">
                <a:latin typeface="Arial" panose="020B0604020202020204" pitchFamily="34" charset="0"/>
              </a:rPr>
              <a:t> </a:t>
            </a:r>
            <a:r>
              <a:rPr lang="ta-IN" altLang="en-US" sz="1200" dirty="0">
                <a:latin typeface="Arial" panose="020B0604020202020204" pitchFamily="34" charset="0"/>
              </a:rPr>
              <a:t>நீங்க விரும்பிய பொருள் உங்களுக்கு கெடச்சதுல</a:t>
            </a:r>
            <a:r>
              <a:rPr lang="en-US" altLang="en-US" sz="1200" dirty="0">
                <a:latin typeface="Arial" panose="020B0604020202020204" pitchFamily="34" charset="0"/>
              </a:rPr>
              <a:t> </a:t>
            </a:r>
            <a:r>
              <a:rPr lang="ta-IN" altLang="en-US" sz="1200" dirty="0">
                <a:latin typeface="Arial" panose="020B0604020202020204" pitchFamily="34" charset="0"/>
              </a:rPr>
              <a:t>எங்களுக்கு ரொம்ப சந்தோஷம் மேடம்</a:t>
            </a:r>
            <a:r>
              <a:rPr lang="en-US" altLang="en-US" sz="1200" dirty="0">
                <a:latin typeface="Arial" panose="020B0604020202020204" pitchFamily="34" charset="0"/>
              </a:rPr>
              <a:t>. </a:t>
            </a:r>
            <a:r>
              <a:rPr lang="ta-IN" altLang="en-US" sz="1200" dirty="0">
                <a:latin typeface="Arial" panose="020B0604020202020204" pitchFamily="34" charset="0"/>
              </a:rPr>
              <a:t>கூகிள்ல ரிவ்யூ கொடுக்குறது</a:t>
            </a:r>
            <a:r>
              <a:rPr lang="en-US" altLang="en-US" sz="1200" dirty="0">
                <a:latin typeface="Arial" panose="020B0604020202020204" pitchFamily="34" charset="0"/>
              </a:rPr>
              <a:t>, </a:t>
            </a:r>
            <a:r>
              <a:rPr lang="ta-IN" altLang="en-US" sz="1200" dirty="0">
                <a:latin typeface="Arial" panose="020B0604020202020204" pitchFamily="34" charset="0"/>
              </a:rPr>
              <a:t>நீங்க எங்களுக்கு கொடுக்குற பெரிய பாராட்டு</a:t>
            </a:r>
            <a:r>
              <a:rPr lang="en-US" altLang="en-US" sz="1200" dirty="0">
                <a:latin typeface="Arial" panose="020B0604020202020204" pitchFamily="34" charset="0"/>
              </a:rPr>
              <a:t>."</a:t>
            </a:r>
          </a:p>
          <a:p>
            <a:pPr marL="342900" indent="-342900" eaLnBrk="0" fontAlgn="base" hangingPunct="0">
              <a:lnSpc>
                <a:spcPct val="150000"/>
              </a:lnSpc>
              <a:spcBef>
                <a:spcPct val="0"/>
              </a:spcBef>
              <a:spcAft>
                <a:spcPct val="0"/>
              </a:spcAft>
              <a:buFont typeface="+mj-lt"/>
              <a:buAutoNum type="arabicPeriod"/>
            </a:pPr>
            <a:r>
              <a:rPr lang="ta-IN" altLang="en-US" sz="1200" b="1" dirty="0">
                <a:latin typeface="Arial" panose="020B0604020202020204" pitchFamily="34" charset="0"/>
              </a:rPr>
              <a:t>கடைசியா</a:t>
            </a:r>
            <a:r>
              <a:rPr lang="en-US" altLang="en-US" sz="1200" b="1" dirty="0">
                <a:latin typeface="Arial" panose="020B0604020202020204" pitchFamily="34" charset="0"/>
                <a:cs typeface="Latha" panose="020B0604020202020204" pitchFamily="34" charset="0"/>
              </a:rPr>
              <a:t>:</a:t>
            </a:r>
            <a:r>
              <a:rPr lang="en-US" altLang="en-US" sz="1200" dirty="0">
                <a:latin typeface="Arial" panose="020B0604020202020204" pitchFamily="34" charset="0"/>
              </a:rPr>
              <a:t> "</a:t>
            </a:r>
            <a:r>
              <a:rPr lang="ta-IN" altLang="en-US" sz="1200" dirty="0">
                <a:latin typeface="Arial" panose="020B0604020202020204" pitchFamily="34" charset="0"/>
              </a:rPr>
              <a:t>இன்னைக்கு வந்ததுக்கு ரொம்ப நன்றி</a:t>
            </a:r>
            <a:r>
              <a:rPr lang="en-US" altLang="en-US" sz="1200" dirty="0">
                <a:latin typeface="Arial" panose="020B0604020202020204" pitchFamily="34" charset="0"/>
              </a:rPr>
              <a:t>, </a:t>
            </a:r>
            <a:r>
              <a:rPr lang="ta-IN" altLang="en-US" sz="1200" dirty="0">
                <a:latin typeface="Arial" panose="020B0604020202020204" pitchFamily="34" charset="0"/>
              </a:rPr>
              <a:t>மேடம்</a:t>
            </a:r>
            <a:r>
              <a:rPr lang="en-US" altLang="en-US" sz="1200" dirty="0">
                <a:latin typeface="Arial" panose="020B0604020202020204" pitchFamily="34" charset="0"/>
              </a:rPr>
              <a:t>/</a:t>
            </a:r>
            <a:r>
              <a:rPr lang="ta-IN" altLang="en-US" sz="1200" dirty="0">
                <a:latin typeface="Arial" panose="020B0604020202020204" pitchFamily="34" charset="0"/>
              </a:rPr>
              <a:t>சார்</a:t>
            </a:r>
            <a:r>
              <a:rPr lang="en-US" altLang="en-US" sz="1200" dirty="0">
                <a:latin typeface="Arial" panose="020B0604020202020204" pitchFamily="34" charset="0"/>
              </a:rPr>
              <a:t>. </a:t>
            </a:r>
            <a:r>
              <a:rPr lang="ta-IN" altLang="en-US" sz="1200" dirty="0">
                <a:latin typeface="Arial" panose="020B0604020202020204" pitchFamily="34" charset="0"/>
              </a:rPr>
              <a:t>உங்களுக்கு நல்ல அனுபவம் இருந்தா</a:t>
            </a:r>
            <a:r>
              <a:rPr lang="en-US" altLang="en-US" sz="1200" dirty="0">
                <a:latin typeface="Arial" panose="020B0604020202020204" pitchFamily="34" charset="0"/>
              </a:rPr>
              <a:t>, </a:t>
            </a:r>
            <a:r>
              <a:rPr lang="ta-IN" altLang="en-US" sz="1200" dirty="0">
                <a:latin typeface="Arial" panose="020B0604020202020204" pitchFamily="34" charset="0"/>
              </a:rPr>
              <a:t>கூகிள் ரிவ்யூ கொடுக்குறது ஒரு பெரிய உதவியா இருக்கும்</a:t>
            </a:r>
            <a:r>
              <a:rPr lang="en-US" altLang="en-US" sz="1200" dirty="0">
                <a:latin typeface="Arial" panose="020B0604020202020204" pitchFamily="34" charset="0"/>
              </a:rPr>
              <a:t>.“,</a:t>
            </a:r>
            <a:r>
              <a:rPr lang="ta-IN" altLang="en-US" sz="1200" dirty="0">
                <a:latin typeface="Arial" panose="020B0604020202020204" pitchFamily="34" charset="0"/>
              </a:rPr>
              <a:t> ஏதாவது நிறை குறை இருந்தா சொல்லுங்க மேடம் திருத்திக்கிறோம்</a:t>
            </a:r>
            <a:r>
              <a:rPr lang="en-US" altLang="en-US" sz="1200" dirty="0">
                <a:latin typeface="Arial" panose="020B0604020202020204" pitchFamily="34" charset="0"/>
              </a:rPr>
              <a:t> ,</a:t>
            </a:r>
            <a:r>
              <a:rPr lang="ta-IN" altLang="en-US" sz="1200" dirty="0">
                <a:latin typeface="Arial" panose="020B0604020202020204" pitchFamily="34" charset="0"/>
              </a:rPr>
              <a:t> மாத்திக்கிறோம்</a:t>
            </a:r>
            <a:endParaRPr lang="en-US" altLang="en-US" sz="1200" dirty="0">
              <a:latin typeface="Arial" panose="020B0604020202020204" pitchFamily="34" charset="0"/>
            </a:endParaRPr>
          </a:p>
          <a:p>
            <a:pPr marL="0" indent="0">
              <a:lnSpc>
                <a:spcPct val="150000"/>
              </a:lnSpc>
              <a:buNone/>
            </a:pPr>
            <a:endParaRPr lang="en-US" sz="1200" dirty="0"/>
          </a:p>
        </p:txBody>
      </p:sp>
      <p:grpSp>
        <p:nvGrpSpPr>
          <p:cNvPr id="14" name="Group 13">
            <a:extLst>
              <a:ext uri="{FF2B5EF4-FFF2-40B4-BE49-F238E27FC236}">
                <a16:creationId xmlns:a16="http://schemas.microsoft.com/office/drawing/2014/main" id="{75F527F9-8BD8-D935-24C9-82665C427C88}"/>
              </a:ext>
            </a:extLst>
          </p:cNvPr>
          <p:cNvGrpSpPr/>
          <p:nvPr/>
        </p:nvGrpSpPr>
        <p:grpSpPr>
          <a:xfrm>
            <a:off x="258097" y="3554451"/>
            <a:ext cx="11264226" cy="53122"/>
            <a:chOff x="0" y="700556"/>
            <a:chExt cx="8128000" cy="1198080"/>
          </a:xfrm>
          <a:solidFill>
            <a:schemeClr val="accent4">
              <a:lumMod val="60000"/>
              <a:lumOff val="40000"/>
            </a:schemeClr>
          </a:solidFill>
        </p:grpSpPr>
        <p:sp>
          <p:nvSpPr>
            <p:cNvPr id="15" name="Rectangle: Rounded Corners 14">
              <a:extLst>
                <a:ext uri="{FF2B5EF4-FFF2-40B4-BE49-F238E27FC236}">
                  <a16:creationId xmlns:a16="http://schemas.microsoft.com/office/drawing/2014/main" id="{EE35CBD7-049A-B62A-23BE-906FB47EC37A}"/>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ectangle: Rounded Corners 4">
              <a:extLst>
                <a:ext uri="{FF2B5EF4-FFF2-40B4-BE49-F238E27FC236}">
                  <a16:creationId xmlns:a16="http://schemas.microsoft.com/office/drawing/2014/main" id="{3A89140F-618B-A166-EFE3-BDF27EA04376}"/>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17" name="Picture 16">
            <a:extLst>
              <a:ext uri="{FF2B5EF4-FFF2-40B4-BE49-F238E27FC236}">
                <a16:creationId xmlns:a16="http://schemas.microsoft.com/office/drawing/2014/main" id="{F6AEFC63-512B-471F-A584-59B7CBEDD00F}"/>
              </a:ext>
            </a:extLst>
          </p:cNvPr>
          <p:cNvPicPr>
            <a:picLocks noChangeAspect="1"/>
          </p:cNvPicPr>
          <p:nvPr/>
        </p:nvPicPr>
        <p:blipFill>
          <a:blip r:embed="rId4"/>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1475580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D52A0-74C1-BCC6-744C-F4DFD935886F}"/>
              </a:ext>
            </a:extLst>
          </p:cNvPr>
          <p:cNvSpPr>
            <a:spLocks noGrp="1"/>
          </p:cNvSpPr>
          <p:nvPr>
            <p:ph type="title"/>
          </p:nvPr>
        </p:nvSpPr>
        <p:spPr>
          <a:xfrm>
            <a:off x="232286" y="401708"/>
            <a:ext cx="8180879" cy="627933"/>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Creating Customer Peak Moments (1/2) </a:t>
            </a:r>
            <a:endParaRPr lang="en-IN" sz="2800" b="1" dirty="0">
              <a:solidFill>
                <a:srgbClr val="C00000"/>
              </a:solidFill>
              <a:latin typeface="Arial" panose="020B0604020202020204" pitchFamily="34" charset="0"/>
              <a:cs typeface="Arial" panose="020B0604020202020204" pitchFamily="34" charset="0"/>
            </a:endParaRPr>
          </a:p>
        </p:txBody>
      </p:sp>
      <p:sp>
        <p:nvSpPr>
          <p:cNvPr id="11" name="Content Placeholder 2">
            <a:extLst>
              <a:ext uri="{FF2B5EF4-FFF2-40B4-BE49-F238E27FC236}">
                <a16:creationId xmlns:a16="http://schemas.microsoft.com/office/drawing/2014/main" id="{9B86BF6E-59B5-9926-1949-584709B8938C}"/>
              </a:ext>
            </a:extLst>
          </p:cNvPr>
          <p:cNvSpPr>
            <a:spLocks noGrp="1"/>
          </p:cNvSpPr>
          <p:nvPr>
            <p:ph idx="1"/>
          </p:nvPr>
        </p:nvSpPr>
        <p:spPr>
          <a:xfrm>
            <a:off x="232286" y="1300207"/>
            <a:ext cx="11727427" cy="4751458"/>
          </a:xfrm>
        </p:spPr>
        <p:txBody>
          <a:bodyPr>
            <a:noAutofit/>
          </a:bodyPr>
          <a:lstStyle/>
          <a:p>
            <a:pPr>
              <a:lnSpc>
                <a:spcPct val="100000"/>
              </a:lnSpc>
            </a:pPr>
            <a:r>
              <a:rPr lang="en-IN" sz="1600" dirty="0">
                <a:latin typeface="Arial" panose="020B0604020202020204" pitchFamily="34" charset="0"/>
                <a:cs typeface="Arial" panose="020B0604020202020204" pitchFamily="34" charset="0"/>
              </a:rPr>
              <a:t>Any level manager shall directly reach out to customer sitting in a counter and should immediately WISH them for their visit </a:t>
            </a:r>
          </a:p>
          <a:p>
            <a:pPr>
              <a:lnSpc>
                <a:spcPct val="100000"/>
              </a:lnSpc>
            </a:pPr>
            <a:r>
              <a:rPr lang="en-IN" sz="1600" dirty="0">
                <a:latin typeface="Arial" panose="020B0604020202020204" pitchFamily="34" charset="0"/>
                <a:cs typeface="Arial" panose="020B0604020202020204" pitchFamily="34" charset="0"/>
              </a:rPr>
              <a:t>While your respective DGM/GM/AVP coming for the branch visit, Level manager can introduce the customer to DGM/GM/AVP , They shall meet &amp; greet the customer</a:t>
            </a:r>
          </a:p>
          <a:p>
            <a:pPr>
              <a:lnSpc>
                <a:spcPct val="100000"/>
              </a:lnSpc>
            </a:pPr>
            <a:r>
              <a:rPr lang="en-IN" sz="1600" dirty="0">
                <a:latin typeface="Arial" panose="020B0604020202020204" pitchFamily="34" charset="0"/>
                <a:cs typeface="Arial" panose="020B0604020202020204" pitchFamily="34" charset="0"/>
              </a:rPr>
              <a:t>If really required, You shall request our respected MD’s to wish the customer over a phone call</a:t>
            </a:r>
          </a:p>
          <a:p>
            <a:pPr>
              <a:lnSpc>
                <a:spcPct val="100000"/>
              </a:lnSpc>
            </a:pPr>
            <a:r>
              <a:rPr lang="en-IN" sz="1600" dirty="0">
                <a:latin typeface="Arial" panose="020B0604020202020204" pitchFamily="34" charset="0"/>
                <a:cs typeface="Arial" panose="020B0604020202020204" pitchFamily="34" charset="0"/>
              </a:rPr>
              <a:t>Level/Floor manager shall say in front of a customer to sales staff as... “Show the product kept in a locker” , Sales staff shall show the “Special products” to customers </a:t>
            </a:r>
          </a:p>
          <a:p>
            <a:pPr>
              <a:lnSpc>
                <a:spcPct val="100000"/>
              </a:lnSpc>
            </a:pPr>
            <a:r>
              <a:rPr lang="en-IN" sz="1600" dirty="0">
                <a:latin typeface="Arial" panose="020B0604020202020204" pitchFamily="34" charset="0"/>
                <a:cs typeface="Arial" panose="020B0604020202020204" pitchFamily="34" charset="0"/>
              </a:rPr>
              <a:t>We can also try showing the “Order product” to customer</a:t>
            </a:r>
          </a:p>
          <a:p>
            <a:pPr>
              <a:lnSpc>
                <a:spcPct val="100000"/>
              </a:lnSpc>
            </a:pPr>
            <a:r>
              <a:rPr lang="en-IN" sz="1600" dirty="0">
                <a:latin typeface="Arial" panose="020B0604020202020204" pitchFamily="34" charset="0"/>
                <a:cs typeface="Arial" panose="020B0604020202020204" pitchFamily="34" charset="0"/>
              </a:rPr>
              <a:t>We shall guide the customer to VIP room and attend the customer from there..</a:t>
            </a:r>
          </a:p>
          <a:p>
            <a:pPr>
              <a:lnSpc>
                <a:spcPct val="100000"/>
              </a:lnSpc>
            </a:pPr>
            <a:r>
              <a:rPr lang="en-IN" sz="1600" dirty="0">
                <a:latin typeface="Arial" panose="020B0604020202020204" pitchFamily="34" charset="0"/>
                <a:cs typeface="Arial" panose="020B0604020202020204" pitchFamily="34" charset="0"/>
              </a:rPr>
              <a:t>To up sell our Promotional Products- (1 Lakhs, 2 Lakhs 5 Lakhs Necklace, Oriana Star Necklace,100 Diamonds &amp; etc…)We should ask the customer to try on these products and convey that “This product suits you well” in a way it create happiness in customer mind</a:t>
            </a:r>
          </a:p>
          <a:p>
            <a:pPr>
              <a:lnSpc>
                <a:spcPct val="100000"/>
              </a:lnSpc>
            </a:pPr>
            <a:r>
              <a:rPr lang="en-IN" sz="1600" dirty="0">
                <a:latin typeface="Arial" panose="020B0604020202020204" pitchFamily="34" charset="0"/>
                <a:cs typeface="Arial" panose="020B0604020202020204" pitchFamily="34" charset="0"/>
              </a:rPr>
              <a:t>At our velachery showroom-One customer use to drink only rose milk, team Velachery ensures to serve only rose milk to customer without being asked , That too on every visit without fail..In a similar way you shall try serving customers based on their need..</a:t>
            </a:r>
          </a:p>
          <a:p>
            <a:pPr>
              <a:lnSpc>
                <a:spcPct val="100000"/>
              </a:lnSpc>
            </a:pPr>
            <a:endParaRPr lang="en-IN" sz="1600" dirty="0">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E6F62DA3-3375-156F-26C1-AB6154C55B64}"/>
              </a:ext>
            </a:extLst>
          </p:cNvPr>
          <p:cNvSpPr txBox="1">
            <a:spLocks/>
          </p:cNvSpPr>
          <p:nvPr/>
        </p:nvSpPr>
        <p:spPr>
          <a:xfrm>
            <a:off x="6319885" y="1787245"/>
            <a:ext cx="5798164" cy="2656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IN" sz="2400" dirty="0"/>
          </a:p>
        </p:txBody>
      </p:sp>
      <p:pic>
        <p:nvPicPr>
          <p:cNvPr id="13" name="Picture 12">
            <a:extLst>
              <a:ext uri="{FF2B5EF4-FFF2-40B4-BE49-F238E27FC236}">
                <a16:creationId xmlns:a16="http://schemas.microsoft.com/office/drawing/2014/main" id="{56B2D325-6A62-4688-A711-880ADA501C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8931" y="142066"/>
            <a:ext cx="887575" cy="887575"/>
          </a:xfrm>
          <a:prstGeom prst="rect">
            <a:avLst/>
          </a:prstGeom>
        </p:spPr>
      </p:pic>
      <p:pic>
        <p:nvPicPr>
          <p:cNvPr id="14" name="Picture 13">
            <a:extLst>
              <a:ext uri="{FF2B5EF4-FFF2-40B4-BE49-F238E27FC236}">
                <a16:creationId xmlns:a16="http://schemas.microsoft.com/office/drawing/2014/main" id="{A92D264E-27AE-4EE5-B409-E0D8C4BF448A}"/>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1427570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B196-F7CC-C6D8-EE62-FA96A38EC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47BBA-A90C-D267-7FDD-D76C48313F48}"/>
              </a:ext>
            </a:extLst>
          </p:cNvPr>
          <p:cNvSpPr>
            <a:spLocks noGrp="1"/>
          </p:cNvSpPr>
          <p:nvPr>
            <p:ph type="title"/>
          </p:nvPr>
        </p:nvSpPr>
        <p:spPr>
          <a:xfrm>
            <a:off x="129191" y="321676"/>
            <a:ext cx="10515600" cy="627933"/>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Creating Customer Peak Moments (2/2) </a:t>
            </a:r>
            <a:endParaRPr lang="en-IN" sz="2800" b="1" dirty="0">
              <a:solidFill>
                <a:srgbClr val="C00000"/>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5DAE8F18-2863-D0FA-353B-ECBC0B0A4E05}"/>
              </a:ext>
            </a:extLst>
          </p:cNvPr>
          <p:cNvSpPr txBox="1">
            <a:spLocks/>
          </p:cNvSpPr>
          <p:nvPr/>
        </p:nvSpPr>
        <p:spPr>
          <a:xfrm>
            <a:off x="6319885" y="1787245"/>
            <a:ext cx="5798164" cy="2656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IN" sz="2400" dirty="0"/>
          </a:p>
        </p:txBody>
      </p:sp>
      <p:sp>
        <p:nvSpPr>
          <p:cNvPr id="14" name="TextBox 13">
            <a:extLst>
              <a:ext uri="{FF2B5EF4-FFF2-40B4-BE49-F238E27FC236}">
                <a16:creationId xmlns:a16="http://schemas.microsoft.com/office/drawing/2014/main" id="{5D42D8AB-0B7E-D301-86A9-271A1708E710}"/>
              </a:ext>
            </a:extLst>
          </p:cNvPr>
          <p:cNvSpPr txBox="1"/>
          <p:nvPr/>
        </p:nvSpPr>
        <p:spPr>
          <a:xfrm>
            <a:off x="129191" y="1119617"/>
            <a:ext cx="11988858" cy="4885440"/>
          </a:xfrm>
          <a:prstGeom prst="rect">
            <a:avLst/>
          </a:prstGeom>
          <a:noFill/>
        </p:spPr>
        <p:txBody>
          <a:bodyPr wrap="square">
            <a:spAutoFit/>
          </a:bodyPr>
          <a:lstStyle/>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If a customer is travelling by auto , You shall kindly inform customer that, Please do inform us once you had reached safely to your home, This will show our CARE to customers</a:t>
            </a:r>
          </a:p>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When level manager approaching a customer for these (</a:t>
            </a:r>
            <a:r>
              <a:rPr lang="en-US" sz="1600" dirty="0">
                <a:latin typeface="Arial" panose="020B0604020202020204" pitchFamily="34" charset="0"/>
                <a:cs typeface="Arial" panose="020B0604020202020204" pitchFamily="34" charset="0"/>
              </a:rPr>
              <a:t>Discount/Wish/Show Promotional Product) task, Manager must also wish the customer who is sitting next to this customer.</a:t>
            </a:r>
            <a:endParaRPr lang="en-IN" sz="1600" dirty="0">
              <a:latin typeface="Arial" panose="020B0604020202020204" pitchFamily="34" charset="0"/>
              <a:cs typeface="Arial" panose="020B0604020202020204" pitchFamily="34" charset="0"/>
            </a:endParaRPr>
          </a:p>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Staff shall as to customer that “On your last visit you bought jewellery for your son’s wedding, we would be happy to know as to how they are doing?  (Similarly for any occasion customer is buying for, check with them on their next visit about their family &amp; friends?)</a:t>
            </a:r>
          </a:p>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When level manager moving from one place to another place within the showroom, should wish the customer who are passing by and must check ask the below questions</a:t>
            </a:r>
          </a:p>
          <a:p>
            <a:pPr marL="22860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Did all their queries were handled well?</a:t>
            </a:r>
          </a:p>
          <a:p>
            <a:pPr marL="22860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Is there anything else that i can help you with?</a:t>
            </a:r>
          </a:p>
          <a:p>
            <a:pPr marL="22860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How was the overall shopping experience, How they felt?</a:t>
            </a:r>
          </a:p>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In our USMAN ROAD showroom,  Customer was shopping from morning to late afternoon, Staff had arranged a lunch for the customer from their favourite restaurant and customer felt extremely delighted and spreading a good word of mouth about our brand in his network, Similarly you shall do it after getting an approval from your respective DGM/GM/AVP</a:t>
            </a:r>
          </a:p>
          <a:p>
            <a:pPr marL="228600" lvl="0" indent="-228600">
              <a:lnSpc>
                <a:spcPct val="90000"/>
              </a:lnSpc>
              <a:spcBef>
                <a:spcPts val="1000"/>
              </a:spcBef>
              <a:buFont typeface="Arial" panose="020B0604020202020204" pitchFamily="34" charset="0"/>
              <a:buChar char="•"/>
            </a:pPr>
            <a:r>
              <a:rPr lang="en-IN" sz="1600" dirty="0">
                <a:latin typeface="Arial" panose="020B0604020202020204" pitchFamily="34" charset="0"/>
                <a:cs typeface="Arial" panose="020B0604020202020204" pitchFamily="34" charset="0"/>
              </a:rPr>
              <a:t>Branches having  a CAR, If customer purchases more than 10 lakhs we shall drop the customer in their residence after getting an approval from respective DGM/GM/AVP</a:t>
            </a:r>
          </a:p>
        </p:txBody>
      </p:sp>
      <p:pic>
        <p:nvPicPr>
          <p:cNvPr id="11" name="Picture 10">
            <a:extLst>
              <a:ext uri="{FF2B5EF4-FFF2-40B4-BE49-F238E27FC236}">
                <a16:creationId xmlns:a16="http://schemas.microsoft.com/office/drawing/2014/main" id="{2D7D32CF-14B8-4B24-BFA7-145192023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8931" y="142066"/>
            <a:ext cx="887575" cy="887575"/>
          </a:xfrm>
          <a:prstGeom prst="rect">
            <a:avLst/>
          </a:prstGeom>
        </p:spPr>
      </p:pic>
      <p:pic>
        <p:nvPicPr>
          <p:cNvPr id="13" name="Picture 12">
            <a:extLst>
              <a:ext uri="{FF2B5EF4-FFF2-40B4-BE49-F238E27FC236}">
                <a16:creationId xmlns:a16="http://schemas.microsoft.com/office/drawing/2014/main" id="{D35079E2-E8B7-4300-800A-D2918F456BC9}"/>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2060892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4C00-EE48-F1CE-CAF4-CD3564A7F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190F8-1476-85A4-1D85-466EA3C5E9A0}"/>
              </a:ext>
            </a:extLst>
          </p:cNvPr>
          <p:cNvSpPr>
            <a:spLocks noGrp="1"/>
          </p:cNvSpPr>
          <p:nvPr>
            <p:ph type="ctrTitle"/>
          </p:nvPr>
        </p:nvSpPr>
        <p:spPr>
          <a:xfrm>
            <a:off x="299945" y="2186505"/>
            <a:ext cx="5293688" cy="1889248"/>
          </a:xfrm>
        </p:spPr>
        <p:txBody>
          <a:bodyPr>
            <a:noAutofit/>
          </a:bodyPr>
          <a:lstStyle/>
          <a:p>
            <a:pPr>
              <a:lnSpc>
                <a:spcPct val="150000"/>
              </a:lnSpc>
            </a:pPr>
            <a:r>
              <a:rPr lang="en-US" sz="2800" dirty="0">
                <a:latin typeface="Arial" panose="020B0604020202020204" pitchFamily="34" charset="0"/>
                <a:cs typeface="Arial" panose="020B0604020202020204" pitchFamily="34" charset="0"/>
              </a:rPr>
              <a:t>Your dedication to customer happiness is the foundation of our “</a:t>
            </a:r>
            <a:r>
              <a:rPr lang="en-US" sz="2800" b="1" dirty="0">
                <a:solidFill>
                  <a:srgbClr val="C00000"/>
                </a:solidFill>
                <a:latin typeface="Arial" panose="020B0604020202020204" pitchFamily="34" charset="0"/>
                <a:cs typeface="Arial" panose="020B0604020202020204" pitchFamily="34" charset="0"/>
              </a:rPr>
              <a:t>BRAND</a:t>
            </a:r>
            <a:r>
              <a:rPr lang="en-US" sz="2800" dirty="0">
                <a:latin typeface="Arial" panose="020B0604020202020204" pitchFamily="34" charset="0"/>
                <a:cs typeface="Arial" panose="020B0604020202020204" pitchFamily="34" charset="0"/>
              </a:rPr>
              <a:t> "success</a:t>
            </a:r>
          </a:p>
        </p:txBody>
      </p:sp>
      <p:sp>
        <p:nvSpPr>
          <p:cNvPr id="5" name="TextBox 4">
            <a:extLst>
              <a:ext uri="{FF2B5EF4-FFF2-40B4-BE49-F238E27FC236}">
                <a16:creationId xmlns:a16="http://schemas.microsoft.com/office/drawing/2014/main" id="{06D0BD1E-2D27-4461-0A54-BFF680EE7E8E}"/>
              </a:ext>
            </a:extLst>
          </p:cNvPr>
          <p:cNvSpPr txBox="1"/>
          <p:nvPr/>
        </p:nvSpPr>
        <p:spPr>
          <a:xfrm>
            <a:off x="6439392" y="2295544"/>
            <a:ext cx="5537180" cy="2004395"/>
          </a:xfrm>
          <a:prstGeom prst="rect">
            <a:avLst/>
          </a:prstGeom>
          <a:noFill/>
        </p:spPr>
        <p:txBody>
          <a:bodyPr wrap="square">
            <a:spAutoFit/>
          </a:bodyPr>
          <a:lstStyle/>
          <a:p>
            <a:pPr>
              <a:lnSpc>
                <a:spcPct val="150000"/>
              </a:lnSpc>
              <a:buNone/>
            </a:pPr>
            <a:r>
              <a:rPr lang="ta-IN" sz="1400" dirty="0"/>
              <a:t>கஸ்டமர்களை சந்தோஷமா வச்சிருக்கிறதுதான் நம்ம வெற்றியோட அடிப்படை. இந்த குறிப்புகளை கடைப்பிடிச்சா, நீங்க நம்ம பிசினஸ்க்கு உதவ மட்டுமில்லாம, உங்களுக்குன்னு ஒரு நல்ல பேரையும் உருவாக்குவீங்க. ஒவ்வொரு ரிவ்யூவும் உங்களின் சிறந்த சேவைக்கு ஒரு சாட்சி.</a:t>
            </a:r>
          </a:p>
        </p:txBody>
      </p:sp>
      <p:pic>
        <p:nvPicPr>
          <p:cNvPr id="7" name="Picture 6">
            <a:extLst>
              <a:ext uri="{FF2B5EF4-FFF2-40B4-BE49-F238E27FC236}">
                <a16:creationId xmlns:a16="http://schemas.microsoft.com/office/drawing/2014/main" id="{1C83C828-F9AA-5611-12DA-D46E612AF9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5498" y="152226"/>
            <a:ext cx="821074" cy="821074"/>
          </a:xfrm>
          <a:prstGeom prst="rect">
            <a:avLst/>
          </a:prstGeom>
        </p:spPr>
      </p:pic>
      <p:grpSp>
        <p:nvGrpSpPr>
          <p:cNvPr id="13" name="Group 12">
            <a:extLst>
              <a:ext uri="{FF2B5EF4-FFF2-40B4-BE49-F238E27FC236}">
                <a16:creationId xmlns:a16="http://schemas.microsoft.com/office/drawing/2014/main" id="{8648DFC1-65EC-0EAB-D7BB-7F64D3751094}"/>
              </a:ext>
            </a:extLst>
          </p:cNvPr>
          <p:cNvGrpSpPr/>
          <p:nvPr/>
        </p:nvGrpSpPr>
        <p:grpSpPr>
          <a:xfrm rot="5400000">
            <a:off x="3486005" y="3344897"/>
            <a:ext cx="4982731" cy="78283"/>
            <a:chOff x="0" y="700556"/>
            <a:chExt cx="8128000" cy="1198080"/>
          </a:xfrm>
          <a:solidFill>
            <a:schemeClr val="accent4">
              <a:lumMod val="60000"/>
              <a:lumOff val="40000"/>
            </a:schemeClr>
          </a:solidFill>
        </p:grpSpPr>
        <p:sp>
          <p:nvSpPr>
            <p:cNvPr id="14" name="Rectangle: Rounded Corners 13">
              <a:extLst>
                <a:ext uri="{FF2B5EF4-FFF2-40B4-BE49-F238E27FC236}">
                  <a16:creationId xmlns:a16="http://schemas.microsoft.com/office/drawing/2014/main" id="{AF580DAB-2CEF-DF85-DE97-A0886A02E1BE}"/>
                </a:ext>
              </a:extLst>
            </p:cNvPr>
            <p:cNvSpPr/>
            <p:nvPr/>
          </p:nvSpPr>
          <p:spPr>
            <a:xfrm>
              <a:off x="0" y="700556"/>
              <a:ext cx="8128000" cy="1198080"/>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ectangle: Rounded Corners 4">
              <a:extLst>
                <a:ext uri="{FF2B5EF4-FFF2-40B4-BE49-F238E27FC236}">
                  <a16:creationId xmlns:a16="http://schemas.microsoft.com/office/drawing/2014/main" id="{B962A323-D196-D753-D086-98363A4A46F3}"/>
                </a:ext>
              </a:extLst>
            </p:cNvPr>
            <p:cNvSpPr txBox="1"/>
            <p:nvPr/>
          </p:nvSpPr>
          <p:spPr>
            <a:xfrm>
              <a:off x="58485" y="759041"/>
              <a:ext cx="8011030" cy="10811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endParaRPr lang="en-IN" sz="5000" kern="1200" dirty="0"/>
            </a:p>
          </p:txBody>
        </p:sp>
      </p:grpSp>
      <p:pic>
        <p:nvPicPr>
          <p:cNvPr id="3" name="Picture 2">
            <a:extLst>
              <a:ext uri="{FF2B5EF4-FFF2-40B4-BE49-F238E27FC236}">
                <a16:creationId xmlns:a16="http://schemas.microsoft.com/office/drawing/2014/main" id="{5E2E319E-2AF2-4597-BE2F-D246C5B87701}"/>
              </a:ext>
            </a:extLst>
          </p:cNvPr>
          <p:cNvPicPr>
            <a:picLocks noChangeAspect="1"/>
          </p:cNvPicPr>
          <p:nvPr/>
        </p:nvPicPr>
        <p:blipFill>
          <a:blip r:embed="rId3"/>
          <a:stretch>
            <a:fillRect/>
          </a:stretch>
        </p:blipFill>
        <p:spPr>
          <a:xfrm>
            <a:off x="3464626" y="6371273"/>
            <a:ext cx="5028323" cy="478414"/>
          </a:xfrm>
          <a:prstGeom prst="rect">
            <a:avLst/>
          </a:prstGeom>
        </p:spPr>
      </p:pic>
    </p:spTree>
    <p:extLst>
      <p:ext uri="{BB962C8B-B14F-4D97-AF65-F5344CB8AC3E}">
        <p14:creationId xmlns:p14="http://schemas.microsoft.com/office/powerpoint/2010/main" val="4288248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ADB6-9C31-51C2-12C5-19499F9FE4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835CABC-6E5C-24D4-E7C4-6759AB1DDE31}"/>
              </a:ext>
            </a:extLst>
          </p:cNvPr>
          <p:cNvSpPr>
            <a:spLocks noGrp="1"/>
          </p:cNvSpPr>
          <p:nvPr>
            <p:ph type="subTitle" idx="1"/>
          </p:nvPr>
        </p:nvSpPr>
        <p:spPr>
          <a:xfrm>
            <a:off x="5383552" y="2953961"/>
            <a:ext cx="6368758" cy="1055097"/>
          </a:xfrm>
        </p:spPr>
        <p:txBody>
          <a:bodyPr>
            <a:normAutofit lnSpcReduction="10000"/>
          </a:bodyPr>
          <a:lstStyle/>
          <a:p>
            <a:r>
              <a:rPr lang="en-US" sz="3200" dirty="0">
                <a:solidFill>
                  <a:srgbClr val="C00000"/>
                </a:solidFill>
                <a:latin typeface="Arial" panose="020B0604020202020204" pitchFamily="34" charset="0"/>
                <a:cs typeface="Arial" panose="020B0604020202020204" pitchFamily="34" charset="0"/>
              </a:rPr>
              <a:t>Thank you</a:t>
            </a:r>
          </a:p>
          <a:p>
            <a:r>
              <a:rPr lang="en-US" sz="3200" b="1" dirty="0">
                <a:solidFill>
                  <a:schemeClr val="accent1">
                    <a:lumMod val="50000"/>
                  </a:schemeClr>
                </a:solidFill>
                <a:latin typeface="Arial" panose="020B0604020202020204" pitchFamily="34" charset="0"/>
                <a:cs typeface="Arial" panose="020B0604020202020204" pitchFamily="34" charset="0"/>
              </a:rPr>
              <a:t>for making the difference</a:t>
            </a:r>
          </a:p>
        </p:txBody>
      </p:sp>
      <p:pic>
        <p:nvPicPr>
          <p:cNvPr id="7" name="Picture 6">
            <a:extLst>
              <a:ext uri="{FF2B5EF4-FFF2-40B4-BE49-F238E27FC236}">
                <a16:creationId xmlns:a16="http://schemas.microsoft.com/office/drawing/2014/main" id="{20B48DB3-7294-5983-C6CA-2157309783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213" y="365125"/>
            <a:ext cx="1055097" cy="1055097"/>
          </a:xfrm>
          <a:prstGeom prst="rect">
            <a:avLst/>
          </a:prstGeom>
        </p:spPr>
      </p:pic>
      <p:pic>
        <p:nvPicPr>
          <p:cNvPr id="18" name="Image 0" descr="preencoded.png">
            <a:extLst>
              <a:ext uri="{FF2B5EF4-FFF2-40B4-BE49-F238E27FC236}">
                <a16:creationId xmlns:a16="http://schemas.microsoft.com/office/drawing/2014/main" id="{7FB5CA60-0F0C-331A-AB4D-0A635E08EC0D}"/>
              </a:ext>
            </a:extLst>
          </p:cNvPr>
          <p:cNvPicPr>
            <a:picLocks noChangeAspect="1"/>
          </p:cNvPicPr>
          <p:nvPr/>
        </p:nvPicPr>
        <p:blipFill>
          <a:blip r:embed="rId3"/>
          <a:stretch>
            <a:fillRect/>
          </a:stretch>
        </p:blipFill>
        <p:spPr>
          <a:xfrm>
            <a:off x="0" y="0"/>
            <a:ext cx="4568578" cy="6852865"/>
          </a:xfrm>
          <a:prstGeom prst="rect">
            <a:avLst/>
          </a:prstGeom>
        </p:spPr>
      </p:pic>
      <p:pic>
        <p:nvPicPr>
          <p:cNvPr id="13" name="Picture 12">
            <a:extLst>
              <a:ext uri="{FF2B5EF4-FFF2-40B4-BE49-F238E27FC236}">
                <a16:creationId xmlns:a16="http://schemas.microsoft.com/office/drawing/2014/main" id="{BC5E718E-814F-47C0-85DC-F6403CF85975}"/>
              </a:ext>
            </a:extLst>
          </p:cNvPr>
          <p:cNvPicPr>
            <a:picLocks noChangeAspect="1"/>
          </p:cNvPicPr>
          <p:nvPr/>
        </p:nvPicPr>
        <p:blipFill>
          <a:blip r:embed="rId4"/>
          <a:stretch>
            <a:fillRect/>
          </a:stretch>
        </p:blipFill>
        <p:spPr>
          <a:xfrm>
            <a:off x="6759011" y="6432356"/>
            <a:ext cx="4419713" cy="420509"/>
          </a:xfrm>
          <a:prstGeom prst="rect">
            <a:avLst/>
          </a:prstGeom>
        </p:spPr>
      </p:pic>
    </p:spTree>
    <p:extLst>
      <p:ext uri="{BB962C8B-B14F-4D97-AF65-F5344CB8AC3E}">
        <p14:creationId xmlns:p14="http://schemas.microsoft.com/office/powerpoint/2010/main" val="1398863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1929</Words>
  <Application>Microsoft Office PowerPoint</Application>
  <PresentationFormat>Widescreen</PresentationFormat>
  <Paragraphs>144</Paragraphs>
  <Slides>20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Black</vt:lpstr>
      <vt:lpstr>Calibri</vt:lpstr>
      <vt:lpstr>Calibri Light</vt:lpstr>
      <vt:lpstr>Office Theme</vt:lpstr>
      <vt:lpstr>Mastering Google Reviews</vt:lpstr>
      <vt:lpstr>PowerPoint Presentation</vt:lpstr>
      <vt:lpstr>PowerPoint Presentation</vt:lpstr>
      <vt:lpstr>What is in it for me &amp; my showroom</vt:lpstr>
      <vt:lpstr>PowerPoint Presentation</vt:lpstr>
      <vt:lpstr>PowerPoint Presentation</vt:lpstr>
      <vt:lpstr>PowerPoint Presentation</vt:lpstr>
      <vt:lpstr>Were are we FY 2024-2025</vt:lpstr>
      <vt:lpstr>Were are we FY 2025 April to July 2025</vt:lpstr>
      <vt:lpstr>The Power of Your Reputation</vt:lpstr>
      <vt:lpstr>Turning Happy Customers into Advocates</vt:lpstr>
      <vt:lpstr>PowerPoint Presentation</vt:lpstr>
      <vt:lpstr>How to Ask Successfully (Top 5 DO’s)</vt:lpstr>
      <vt:lpstr>What to Avoid (The Top 5 DON’Ts)</vt:lpstr>
      <vt:lpstr>Go Above and Beyond (Pro Tips for Excellence)</vt:lpstr>
      <vt:lpstr>The Golden Script (Putting it into Practice)</vt:lpstr>
      <vt:lpstr>Creating Customer Peak Moments (1/2) </vt:lpstr>
      <vt:lpstr>Creating Customer Peak Moments (2/2) </vt:lpstr>
      <vt:lpstr>Your dedication to customer happiness is the foundation of our “BRAND "success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Google Reviews</dc:title>
  <dc:creator>Deepak Raj Kumar</dc:creator>
  <cp:lastModifiedBy>Rathish</cp:lastModifiedBy>
  <cp:revision>29</cp:revision>
  <cp:lastPrinted>2025-08-30T05:27:32Z</cp:lastPrinted>
  <dcterms:created xsi:type="dcterms:W3CDTF">2025-08-30T03:57:03Z</dcterms:created>
  <dcterms:modified xsi:type="dcterms:W3CDTF">2025-08-30T12:46:28Z</dcterms:modified>
</cp:coreProperties>
</file>